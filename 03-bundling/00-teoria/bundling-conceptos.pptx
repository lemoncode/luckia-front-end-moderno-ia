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9"/>
  </p:notesMasterIdLst>
  <p:sldIdLst>
    <p:sldId id="519" r:id="rId2"/>
    <p:sldId id="705" r:id="rId3"/>
    <p:sldId id="651" r:id="rId4"/>
    <p:sldId id="706" r:id="rId5"/>
    <p:sldId id="708" r:id="rId23"/>
    <p:sldId id="707" r:id="rId6"/>
    <p:sldId id="709" r:id="rId24"/>
    <p:sldId id="710" r:id="rId25"/>
    <p:sldId id="697" r:id="rId7"/>
    <p:sldId id="696" r:id="rId8"/>
  </p:sldIdLst>
  <p:sldSz cx="9144000" cy="5143500" type="screen16x9"/>
  <p:notesSz cx="6858000" cy="9144000"/>
  <p:embeddedFontLst>
    <p:embeddedFont>
      <p:font typeface="Montserrat SemiBold" panose="00000700000000000000" pitchFamily="2" charset="0"/>
      <p:regular r:id="rId10"/>
      <p:bold r:id="rId11"/>
      <p:italic r:id="rId12"/>
      <p:boldItalic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408" userDrawn="1">
          <p15:clr>
            <a:srgbClr val="A4A3A4"/>
          </p15:clr>
        </p15:guide>
        <p15:guide id="4" pos="158" userDrawn="1">
          <p15:clr>
            <a:srgbClr val="A4A3A4"/>
          </p15:clr>
        </p15:guide>
        <p15:guide id="5" pos="5602" userDrawn="1">
          <p15:clr>
            <a:srgbClr val="A4A3A4"/>
          </p15:clr>
        </p15:guide>
        <p15:guide id="6" orient="horz" pos="4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0A1"/>
    <a:srgbClr val="FF3AD6"/>
    <a:srgbClr val="00A343"/>
    <a:srgbClr val="95B1AF"/>
    <a:srgbClr val="659B91"/>
    <a:srgbClr val="494738"/>
    <a:srgbClr val="006A7B"/>
    <a:srgbClr val="FFC6A4"/>
    <a:srgbClr val="00DAD7"/>
    <a:srgbClr val="BC5B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1D5A35-393A-4C16-993C-17BEDFDC715F}" v="5" dt="2026-01-29T20:26:00.976"/>
    <p1510:client id="{7A10ADDA-B154-419B-BB3E-203F10933BE6}" v="2109" dt="2026-01-28T03:53:57.465"/>
    <p1510:client id="{CF925C49-6483-4040-9A7D-DBD5D842A7A9}" v="1122" dt="2026-01-27T20:28:09.149"/>
    <p1510:client id="{E7B5A35A-683F-4130-AF67-63FE1DBE8D79}" v="25" dt="2026-01-29T15:56:49.3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  <p:guide pos="408"/>
        <p:guide pos="158"/>
        <p:guide pos="5602"/>
        <p:guide orient="horz" pos="486"/>
      </p:guideLst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5/10/relationships/revisionInfo" Target="revisionInfo.xml"/>  <Relationship Id="rId23" Type="http://schemas.openxmlformats.org/officeDocument/2006/relationships/slide" Target="slides/slide8.xml"/>
  <Relationship Id="rId24" Type="http://schemas.openxmlformats.org/officeDocument/2006/relationships/slide" Target="slides/slide9.xml"/>
  <Relationship Id="rId25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B6EE4-302D-42F1-9E0F-295CEEA59884}" type="datetimeFigureOut">
              <a:rPr lang="es-ES" smtClean="0"/>
              <a:t>29/01/2026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B2E3C7-4DED-451B-AD6F-BFB932FF2CA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1342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2E3C7-4DED-451B-AD6F-BFB932FF2CAD}" type="slidenum">
              <a:rPr lang="es-ES" smtClean="0"/>
              <a:t/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5102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2E3C7-4DED-451B-AD6F-BFB932FF2CAD}" type="slidenum">
              <a:rPr lang="es-ES" smtClean="0"/>
              <a:t/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372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4B98B-7DCC-49F6-CCD5-44155038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B0573F-6109-AF06-5CC7-F4E0567B9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979CCC-3083-11F5-7CD4-F08979B72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09785-8623-C9FB-5807-A94752218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2E3C7-4DED-451B-AD6F-BFB932FF2CAD}" type="slidenum">
              <a:rPr lang="es-ES" smtClean="0"/>
              <a:t/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1752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2BE6C-876F-5AE2-8601-C4E916550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02B13-9466-BD24-F808-27C62074E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8C8B8-95FC-5AE2-A0B1-2984365FF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D633E-6C45-86D4-D9BF-436F32A9D1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2E3C7-4DED-451B-AD6F-BFB932FF2CAD}" type="slidenum">
              <a:rPr lang="es-ES" smtClean="0"/>
              <a:t/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0715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2E3C7-4DED-451B-AD6F-BFB932FF2CAD}" type="slidenum">
              <a:rPr lang="es-ES" smtClean="0"/>
              <a:t/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9576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2E3C7-4DED-451B-AD6F-BFB932FF2CAD}" type="slidenum">
              <a:rPr lang="es-ES" smtClean="0"/>
              <a:t/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145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2E3C7-4DED-451B-AD6F-BFB932FF2CAD}" type="slidenum">
              <a:rPr lang="es-ES" smtClean="0"/>
              <a:t/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4567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2E3C7-4DED-451B-AD6F-BFB932FF2CAD}" type="slidenum">
              <a:rPr lang="es-ES" smtClean="0"/>
              <a:t/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4567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2E3C7-4DED-451B-AD6F-BFB932FF2CAD}" type="slidenum">
              <a:rPr lang="es-ES" smtClean="0"/>
              <a:t/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4567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  <a:p>
            <a:endParaRPr lang="es-ES" dirty="0"/>
          </a:p>
          <a:p>
            <a:r>
              <a:rPr lang="es-E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2E3C7-4DED-451B-AD6F-BFB932FF2CAD}" type="slidenum">
              <a:rPr lang="es-ES" smtClean="0"/>
              <a:t/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4567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495300" y="2847976"/>
            <a:ext cx="7772400" cy="933449"/>
          </a:xfrm>
        </p:spPr>
        <p:txBody>
          <a:bodyPr>
            <a:normAutofit/>
          </a:bodyPr>
          <a:lstStyle/>
          <a:p>
            <a:pPr algn="l"/>
            <a:r>
              <a:rPr lang="en-US" sz="7200" spc="-300" err="1">
                <a:latin typeface="Neo Sans Std Medium"/>
                <a:cs typeface="Neo Sans Std Medium"/>
              </a:rPr>
              <a:t>Título</a:t>
            </a:r>
            <a:endParaRPr lang="en-US" sz="7200" spc="-300">
              <a:latin typeface="Neo Sans Std Medium"/>
              <a:cs typeface="Neo Sans Std Medium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3400" y="3657600"/>
            <a:ext cx="8013700" cy="495300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algn="l"/>
            <a:r>
              <a:rPr lang="en-US" sz="2800" err="1">
                <a:latin typeface="Neo Sans Std Light"/>
                <a:cs typeface="Neo Sans Std Light"/>
              </a:rPr>
              <a:t>Subtítulo</a:t>
            </a:r>
            <a:endParaRPr lang="en-US" sz="2800">
              <a:latin typeface="Neo Sans Std Light"/>
              <a:cs typeface="Neo Sans Std Light"/>
            </a:endParaRPr>
          </a:p>
        </p:txBody>
      </p:sp>
    </p:spTree>
    <p:extLst>
      <p:ext uri="{BB962C8B-B14F-4D97-AF65-F5344CB8AC3E}">
        <p14:creationId xmlns:p14="http://schemas.microsoft.com/office/powerpoint/2010/main" val="216049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A4B8BC99-9ACD-BE4F-B10C-4208E66E3B9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6F52DB1-0A36-E24F-B3B2-94DA0D5B1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5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A4B8BC99-9ACD-BE4F-B10C-4208E66E3B9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6F52DB1-0A36-E24F-B3B2-94DA0D5B1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82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A4B8BC99-9ACD-BE4F-B10C-4208E66E3B9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6F52DB1-0A36-E24F-B3B2-94DA0D5B1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8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A4B8BC99-9ACD-BE4F-B10C-4208E66E3B9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6F52DB1-0A36-E24F-B3B2-94DA0D5B1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62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A4B8BC99-9ACD-BE4F-B10C-4208E66E3B9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6F52DB1-0A36-E24F-B3B2-94DA0D5B1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90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A4B8BC99-9ACD-BE4F-B10C-4208E66E3B9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6F52DB1-0A36-E24F-B3B2-94DA0D5B1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82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A4B8BC99-9ACD-BE4F-B10C-4208E66E3B9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6F52DB1-0A36-E24F-B3B2-94DA0D5B1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48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A4B8BC99-9ACD-BE4F-B10C-4208E66E3B9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6F52DB1-0A36-E24F-B3B2-94DA0D5B1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7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A4B8BC99-9ACD-BE4F-B10C-4208E66E3B9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6F52DB1-0A36-E24F-B3B2-94DA0D5B1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6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A4B8BC99-9ACD-BE4F-B10C-4208E66E3B9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6F52DB1-0A36-E24F-B3B2-94DA0D5B1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08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06322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 err="1"/>
              <a:t>Click</a:t>
            </a:r>
            <a:r>
              <a:rPr lang="es-ES_tradnl"/>
              <a:t> </a:t>
            </a:r>
            <a:r>
              <a:rPr lang="es-ES_tradnl" err="1"/>
              <a:t>to</a:t>
            </a:r>
            <a:r>
              <a:rPr lang="es-ES_tradnl"/>
              <a:t>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75803"/>
            <a:ext cx="8229600" cy="215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err="1"/>
              <a:t>Click</a:t>
            </a:r>
            <a:r>
              <a:rPr lang="es-ES_tradnl"/>
              <a:t> </a:t>
            </a:r>
            <a:r>
              <a:rPr lang="es-ES_tradnl" err="1"/>
              <a:t>to</a:t>
            </a:r>
            <a:r>
              <a:rPr lang="es-ES_tradnl"/>
              <a:t>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text</a:t>
            </a:r>
            <a:r>
              <a:rPr lang="es-ES_tradnl"/>
              <a:t> </a:t>
            </a:r>
            <a:r>
              <a:rPr lang="es-ES_tradnl" err="1"/>
              <a:t>styles</a:t>
            </a:r>
            <a:endParaRPr lang="es-ES_tradnl"/>
          </a:p>
          <a:p>
            <a:pPr lvl="1"/>
            <a:r>
              <a:rPr lang="es-ES_tradnl" err="1"/>
              <a:t>Second</a:t>
            </a:r>
            <a:r>
              <a:rPr lang="es-ES_tradnl"/>
              <a:t> </a:t>
            </a:r>
            <a:r>
              <a:rPr lang="es-ES_tradnl" err="1"/>
              <a:t>level</a:t>
            </a:r>
            <a:endParaRPr lang="es-ES_tradnl"/>
          </a:p>
          <a:p>
            <a:pPr lvl="2"/>
            <a:r>
              <a:rPr lang="es-ES_tradnl" err="1"/>
              <a:t>Third</a:t>
            </a:r>
            <a:r>
              <a:rPr lang="es-ES_tradnl"/>
              <a:t> </a:t>
            </a:r>
            <a:r>
              <a:rPr lang="es-ES_tradnl" err="1"/>
              <a:t>level</a:t>
            </a:r>
            <a:endParaRPr lang="es-ES_tradnl"/>
          </a:p>
          <a:p>
            <a:pPr lvl="3"/>
            <a:r>
              <a:rPr lang="es-ES_tradnl" err="1"/>
              <a:t>Fourth</a:t>
            </a:r>
            <a:r>
              <a:rPr lang="es-ES_tradnl"/>
              <a:t> </a:t>
            </a:r>
            <a:r>
              <a:rPr lang="es-ES_tradnl" err="1"/>
              <a:t>level</a:t>
            </a:r>
            <a:endParaRPr lang="es-ES_tradnl"/>
          </a:p>
          <a:p>
            <a:pPr lvl="4"/>
            <a:r>
              <a:rPr lang="es-ES_tradnl" err="1"/>
              <a:t>Fifth</a:t>
            </a:r>
            <a:r>
              <a:rPr lang="es-ES_tradnl"/>
              <a:t> </a:t>
            </a:r>
            <a:r>
              <a:rPr lang="es-ES_tradnl" err="1"/>
              <a:t>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9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5400" b="0" i="0" kern="1200">
          <a:solidFill>
            <a:schemeClr val="tx1"/>
          </a:solidFill>
          <a:latin typeface="Neo Sans Std Medium"/>
          <a:ea typeface="+mj-ea"/>
          <a:cs typeface="Neo Sans Std Medium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b="0" i="0" kern="1200">
          <a:solidFill>
            <a:schemeClr val="tx1"/>
          </a:solidFill>
          <a:latin typeface="Neo Sans Std"/>
          <a:ea typeface="+mn-ea"/>
          <a:cs typeface="Neo Sans Std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b="0" i="0" kern="1200">
          <a:solidFill>
            <a:schemeClr val="tx1"/>
          </a:solidFill>
          <a:latin typeface="Neo Sans Std"/>
          <a:ea typeface="+mn-ea"/>
          <a:cs typeface="Neo Sans Std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b="0" i="0" kern="1200">
          <a:solidFill>
            <a:schemeClr val="tx1"/>
          </a:solidFill>
          <a:latin typeface="Neo Sans Std"/>
          <a:ea typeface="+mn-ea"/>
          <a:cs typeface="Neo Sans Std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b="0" i="0" kern="1200">
          <a:solidFill>
            <a:schemeClr val="tx1"/>
          </a:solidFill>
          <a:latin typeface="Neo Sans Std"/>
          <a:ea typeface="+mn-ea"/>
          <a:cs typeface="Neo Sans Std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b="0" i="0" kern="1200">
          <a:solidFill>
            <a:schemeClr val="tx1"/>
          </a:solidFill>
          <a:latin typeface="Neo Sans Std"/>
          <a:ea typeface="+mn-ea"/>
          <a:cs typeface="Neo Sans Std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99" Type="http://schemas.openxmlformats.org/officeDocument/2006/relationships/notesSlide" Target="../notesSlides/notesSlide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9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9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78557BC-75CE-4181-9589-2628A4A7F07D}"/>
              </a:ext>
            </a:extLst>
          </p:cNvPr>
          <p:cNvSpPr/>
          <p:nvPr/>
        </p:nvSpPr>
        <p:spPr>
          <a:xfrm>
            <a:off x="0" y="3443908"/>
            <a:ext cx="9144000" cy="1699591"/>
          </a:xfrm>
          <a:prstGeom prst="rect">
            <a:avLst/>
          </a:prstGeom>
          <a:solidFill>
            <a:srgbClr val="D8D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_tradnl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6B6CDE2-EADE-430A-81A9-A4C92D7A9C60}"/>
              </a:ext>
            </a:extLst>
          </p:cNvPr>
          <p:cNvSpPr txBox="1">
            <a:spLocks/>
          </p:cNvSpPr>
          <p:nvPr/>
        </p:nvSpPr>
        <p:spPr>
          <a:xfrm>
            <a:off x="572755" y="2270925"/>
            <a:ext cx="8320419" cy="1170605"/>
          </a:xfrm>
          <a:prstGeom prst="rect">
            <a:avLst/>
          </a:prstGeom>
        </p:spPr>
        <p:txBody>
          <a:bodyPr vert="horz" wrap="square" lIns="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1"/>
                </a:solidFill>
                <a:latin typeface="Neo Sans Std Medium"/>
                <a:ea typeface="+mj-ea"/>
                <a:cs typeface="Neo Sans Std Medium"/>
              </a:defRPr>
            </a:lvl1pPr>
          </a:lstStyle>
          <a:p>
            <a:pPr>
              <a:tabLst>
                <a:tab pos="90488" algn="l"/>
              </a:tabLst>
            </a:pPr>
            <a:r>
              <a:rPr lang="en-US" sz="7200" spc="-300">
                <a:solidFill>
                  <a:srgbClr val="242415"/>
                </a:solidFill>
                <a:latin typeface="Montserrat SemiBold" panose="00000700000000000000" pitchFamily="2" charset="0"/>
              </a:rPr>
              <a:t>Bundling</a:t>
            </a:r>
            <a:endParaRPr lang="en-US" sz="7200" spc="-300">
              <a:solidFill>
                <a:srgbClr val="242415"/>
              </a:solidFill>
              <a:effectLst/>
              <a:latin typeface="Montserrat SemiBold" panose="00000700000000000000" pitchFamily="2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E846C75-EA81-4B08-9B7A-76A26EDBBCE3}"/>
              </a:ext>
            </a:extLst>
          </p:cNvPr>
          <p:cNvSpPr txBox="1">
            <a:spLocks/>
          </p:cNvSpPr>
          <p:nvPr/>
        </p:nvSpPr>
        <p:spPr>
          <a:xfrm>
            <a:off x="607926" y="3442251"/>
            <a:ext cx="8285248" cy="756000"/>
          </a:xfrm>
          <a:prstGeom prst="rect">
            <a:avLst/>
          </a:prstGeom>
        </p:spPr>
        <p:txBody>
          <a:bodyPr vert="horz" lIns="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1"/>
                </a:solidFill>
                <a:latin typeface="Neo Sans Std Medium"/>
                <a:ea typeface="+mj-ea"/>
                <a:cs typeface="Neo Sans Std Medium"/>
              </a:defRPr>
            </a:lvl1pPr>
          </a:lstStyle>
          <a:p>
            <a:r>
              <a:rPr lang="en-US" sz="4000" spc="-20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Introducción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E94D9FF3-C3BC-45FD-BE97-970A880FF2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688" t="-754" r="13873" b="52337"/>
          <a:stretch/>
        </p:blipFill>
        <p:spPr>
          <a:xfrm rot="16200000">
            <a:off x="7481612" y="3481111"/>
            <a:ext cx="1701968" cy="162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016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78557BC-75CE-4181-9589-2628A4A7F07D}"/>
              </a:ext>
            </a:extLst>
          </p:cNvPr>
          <p:cNvSpPr/>
          <p:nvPr/>
        </p:nvSpPr>
        <p:spPr>
          <a:xfrm>
            <a:off x="0" y="3443908"/>
            <a:ext cx="9144000" cy="1699591"/>
          </a:xfrm>
          <a:prstGeom prst="rect">
            <a:avLst/>
          </a:prstGeom>
          <a:solidFill>
            <a:srgbClr val="D8D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_tradnl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6B6CDE2-EADE-430A-81A9-A4C92D7A9C60}"/>
              </a:ext>
            </a:extLst>
          </p:cNvPr>
          <p:cNvSpPr txBox="1">
            <a:spLocks/>
          </p:cNvSpPr>
          <p:nvPr/>
        </p:nvSpPr>
        <p:spPr>
          <a:xfrm>
            <a:off x="572755" y="2270925"/>
            <a:ext cx="8320419" cy="1170605"/>
          </a:xfrm>
          <a:prstGeom prst="rect">
            <a:avLst/>
          </a:prstGeom>
        </p:spPr>
        <p:txBody>
          <a:bodyPr vert="horz" wrap="square" lIns="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1"/>
                </a:solidFill>
                <a:latin typeface="Neo Sans Std Medium"/>
                <a:ea typeface="+mj-ea"/>
                <a:cs typeface="Neo Sans Std Medium"/>
              </a:defRPr>
            </a:lvl1pPr>
          </a:lstStyle>
          <a:p>
            <a:pPr>
              <a:tabLst>
                <a:tab pos="90488" algn="l"/>
              </a:tabLst>
            </a:pPr>
            <a:r>
              <a:rPr lang="en-US" sz="7200" spc="-300" err="1">
                <a:solidFill>
                  <a:srgbClr val="242415"/>
                </a:solidFill>
                <a:effectLst/>
                <a:latin typeface="Montserrat SemiBold" panose="00000700000000000000" pitchFamily="2" charset="0"/>
              </a:rPr>
              <a:t>Introducción</a:t>
            </a:r>
            <a:endParaRPr lang="en-US" sz="7200" spc="-300">
              <a:solidFill>
                <a:srgbClr val="242415"/>
              </a:solidFill>
              <a:effectLst/>
              <a:latin typeface="Montserrat SemiBold" panose="00000700000000000000" pitchFamily="2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E846C75-EA81-4B08-9B7A-76A26EDBBCE3}"/>
              </a:ext>
            </a:extLst>
          </p:cNvPr>
          <p:cNvSpPr txBox="1">
            <a:spLocks/>
          </p:cNvSpPr>
          <p:nvPr/>
        </p:nvSpPr>
        <p:spPr>
          <a:xfrm>
            <a:off x="607926" y="3442251"/>
            <a:ext cx="8285248" cy="756000"/>
          </a:xfrm>
          <a:prstGeom prst="rect">
            <a:avLst/>
          </a:prstGeom>
        </p:spPr>
        <p:txBody>
          <a:bodyPr vert="horz" lIns="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1"/>
                </a:solidFill>
                <a:latin typeface="Neo Sans Std Medium"/>
                <a:ea typeface="+mj-ea"/>
                <a:cs typeface="Neo Sans Std Medium"/>
              </a:defRPr>
            </a:lvl1pPr>
          </a:lstStyle>
          <a:p>
            <a:r>
              <a:rPr lang="en-US" sz="4000" spc="-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¿ Por </a:t>
            </a:r>
            <a:r>
              <a:rPr lang="en-US" sz="4000" spc="-20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qué</a:t>
            </a:r>
            <a:r>
              <a:rPr lang="en-US" sz="4000" spc="-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bundling?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E94D9FF3-C3BC-45FD-BE97-970A880FF2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0688" t="-754" r="13873" b="52337"/>
          <a:stretch/>
        </p:blipFill>
        <p:spPr>
          <a:xfrm rot="16200000">
            <a:off x="7481612" y="3481111"/>
            <a:ext cx="1701968" cy="162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630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47699" y="-1627"/>
            <a:ext cx="8245476" cy="810657"/>
          </a:xfrm>
        </p:spPr>
        <p:txBody>
          <a:bodyPr lIns="0" anchor="b"/>
          <a:lstStyle/>
          <a:p>
            <a:r>
              <a:rPr lang="es-ES_tradnl" sz="3600" spc="-300">
                <a:solidFill>
                  <a:srgbClr val="242415"/>
                </a:solidFill>
                <a:latin typeface="Montserrat SemiBold"/>
              </a:rPr>
              <a:t>Antes</a:t>
            </a:r>
            <a:r>
              <a:rPr lang="es-ES_tradnl" sz="4000" spc="-300">
                <a:solidFill>
                  <a:srgbClr val="242415"/>
                </a:solidFill>
                <a:latin typeface="Montserrat SemiBold"/>
              </a:rPr>
              <a:t> de los </a:t>
            </a:r>
            <a:r>
              <a:rPr lang="es-ES_tradnl" sz="4000" spc="-300" err="1">
                <a:solidFill>
                  <a:srgbClr val="242415"/>
                </a:solidFill>
                <a:latin typeface="Montserrat SemiBold"/>
              </a:rPr>
              <a:t>bundlers</a:t>
            </a:r>
            <a:endParaRPr lang="es-ES_tradnl" sz="4000" spc="-300" err="1">
              <a:solidFill>
                <a:srgbClr val="242415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500B578-A172-4123-A9F9-10474B82C587}"/>
              </a:ext>
            </a:extLst>
          </p:cNvPr>
          <p:cNvSpPr/>
          <p:nvPr/>
        </p:nvSpPr>
        <p:spPr>
          <a:xfrm>
            <a:off x="0" y="0"/>
            <a:ext cx="254000" cy="5143500"/>
          </a:xfrm>
          <a:prstGeom prst="rect">
            <a:avLst/>
          </a:prstGeom>
          <a:solidFill>
            <a:srgbClr val="D8D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_trad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82FEF0-FA99-D845-AC51-BCEA92343B65}"/>
              </a:ext>
            </a:extLst>
          </p:cNvPr>
          <p:cNvSpPr txBox="1"/>
          <p:nvPr/>
        </p:nvSpPr>
        <p:spPr>
          <a:xfrm>
            <a:off x="647699" y="809030"/>
            <a:ext cx="817981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>
                <a:ea typeface="Open Sans"/>
                <a:cs typeface="Open Sans"/>
              </a:rPr>
              <a:t>Hasta la aparición de los </a:t>
            </a:r>
            <a:r>
              <a:rPr lang="es-ES" err="1">
                <a:ea typeface="Open Sans"/>
                <a:cs typeface="Open Sans"/>
              </a:rPr>
              <a:t>bundlers</a:t>
            </a:r>
            <a:r>
              <a:rPr lang="es-ES">
                <a:ea typeface="Open Sans"/>
                <a:cs typeface="Open Sans"/>
              </a:rPr>
              <a:t> desarrollo = producción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DFD9295-9077-4545-91A0-E5ED8AE6BFA8}"/>
              </a:ext>
            </a:extLst>
          </p:cNvPr>
          <p:cNvSpPr/>
          <p:nvPr/>
        </p:nvSpPr>
        <p:spPr>
          <a:xfrm>
            <a:off x="1484469" y="1870854"/>
            <a:ext cx="2055731" cy="431754"/>
          </a:xfrm>
          <a:prstGeom prst="roundRect">
            <a:avLst/>
          </a:prstGeom>
          <a:solidFill>
            <a:srgbClr val="00A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H</a:t>
            </a:r>
            <a:r>
              <a:rPr lang="en-ES"/>
              <a:t>tml / php /jsp…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1124F92-3062-5443-A835-3D99E30F7E94}"/>
              </a:ext>
            </a:extLst>
          </p:cNvPr>
          <p:cNvSpPr/>
          <p:nvPr/>
        </p:nvSpPr>
        <p:spPr>
          <a:xfrm>
            <a:off x="1484468" y="2637304"/>
            <a:ext cx="2055731" cy="431754"/>
          </a:xfrm>
          <a:prstGeom prst="roundRect">
            <a:avLst/>
          </a:prstGeom>
          <a:solidFill>
            <a:srgbClr val="00A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ES"/>
              <a:t>js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52758-2217-1448-B900-1765C27237B8}"/>
              </a:ext>
            </a:extLst>
          </p:cNvPr>
          <p:cNvSpPr txBox="1"/>
          <p:nvPr/>
        </p:nvSpPr>
        <p:spPr>
          <a:xfrm>
            <a:off x="764263" y="1289884"/>
            <a:ext cx="350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b="1"/>
              <a:t>Desarrollo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4CCE5D-A4AD-CB48-800F-E2E8A77969C2}"/>
              </a:ext>
            </a:extLst>
          </p:cNvPr>
          <p:cNvCxnSpPr/>
          <p:nvPr/>
        </p:nvCxnSpPr>
        <p:spPr>
          <a:xfrm>
            <a:off x="4471930" y="1479163"/>
            <a:ext cx="0" cy="1876419"/>
          </a:xfrm>
          <a:prstGeom prst="line">
            <a:avLst/>
          </a:prstGeom>
          <a:ln>
            <a:solidFill>
              <a:srgbClr val="AEAC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5B74167-1A13-A440-9E63-81B97EC3E28D}"/>
              </a:ext>
            </a:extLst>
          </p:cNvPr>
          <p:cNvSpPr txBox="1"/>
          <p:nvPr/>
        </p:nvSpPr>
        <p:spPr>
          <a:xfrm>
            <a:off x="4256270" y="1299608"/>
            <a:ext cx="4776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b="1"/>
              <a:t>Producción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86DB2C8B-A582-4D4C-8C47-849AE539064C}"/>
              </a:ext>
            </a:extLst>
          </p:cNvPr>
          <p:cNvSpPr/>
          <p:nvPr/>
        </p:nvSpPr>
        <p:spPr>
          <a:xfrm>
            <a:off x="3926939" y="2132284"/>
            <a:ext cx="1101284" cy="432669"/>
          </a:xfrm>
          <a:prstGeom prst="rightArrow">
            <a:avLst/>
          </a:prstGeom>
          <a:solidFill>
            <a:srgbClr val="F88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332057B3-D167-5208-740B-A0F29ADFC38B}"/>
              </a:ext>
            </a:extLst>
          </p:cNvPr>
          <p:cNvSpPr/>
          <p:nvPr/>
        </p:nvSpPr>
        <p:spPr>
          <a:xfrm>
            <a:off x="5637369" y="1872292"/>
            <a:ext cx="2044948" cy="431754"/>
          </a:xfrm>
          <a:prstGeom prst="roundRect">
            <a:avLst/>
          </a:prstGeom>
          <a:solidFill>
            <a:srgbClr val="00A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H</a:t>
            </a:r>
            <a:r>
              <a:rPr lang="en-ES"/>
              <a:t>tml / php /jsp…</a:t>
            </a:r>
          </a:p>
        </p:txBody>
      </p:sp>
      <p:sp>
        <p:nvSpPr>
          <p:cNvPr id="9" name="Rounded Rectangle 19">
            <a:extLst>
              <a:ext uri="{FF2B5EF4-FFF2-40B4-BE49-F238E27FC236}">
                <a16:creationId xmlns:a16="http://schemas.microsoft.com/office/drawing/2014/main" id="{ABF2ED0C-203F-46DB-4235-84DFF4E30415}"/>
              </a:ext>
            </a:extLst>
          </p:cNvPr>
          <p:cNvSpPr/>
          <p:nvPr/>
        </p:nvSpPr>
        <p:spPr>
          <a:xfrm>
            <a:off x="5637368" y="2638742"/>
            <a:ext cx="2044948" cy="431754"/>
          </a:xfrm>
          <a:prstGeom prst="roundRect">
            <a:avLst/>
          </a:prstGeom>
          <a:solidFill>
            <a:srgbClr val="00A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ES"/>
              <a:t>js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A5A456-0626-B439-3CB7-DA7A8A6F0052}"/>
              </a:ext>
            </a:extLst>
          </p:cNvPr>
          <p:cNvSpPr txBox="1"/>
          <p:nvPr/>
        </p:nvSpPr>
        <p:spPr>
          <a:xfrm>
            <a:off x="559586" y="3353523"/>
            <a:ext cx="8268621" cy="1723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s-E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🚫 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No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existía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procesamiento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previo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. El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navegador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recibía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el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código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sin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chequeos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.</a:t>
            </a:r>
            <a:endParaRPr lang="en-US" sz="1100">
              <a:ea typeface="Open Sans"/>
              <a:cs typeface="Open Sans"/>
            </a:endParaRPr>
          </a:p>
          <a:p>
            <a:pPr>
              <a:lnSpc>
                <a:spcPct val="200000"/>
              </a:lnSpc>
            </a:pPr>
            <a:r>
              <a:rPr lang="es-E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🚫 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No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existía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ninguna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herramienta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de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desarrollo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. Todo era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desarrollo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y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producción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a la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vez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.</a:t>
            </a:r>
            <a:endParaRPr lang="en-US" sz="1100">
              <a:solidFill>
                <a:srgbClr val="262626"/>
              </a:solidFill>
              <a:ea typeface="Open Sans"/>
              <a:cs typeface="Open Sans"/>
            </a:endParaRPr>
          </a:p>
          <a:p>
            <a:pPr>
              <a:lnSpc>
                <a:spcPct val="200000"/>
              </a:lnSpc>
            </a:pPr>
            <a:r>
              <a:rPr lang="es-E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🚫 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Todo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vivía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en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el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scope global,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generando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conflictos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entre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archivos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.</a:t>
            </a:r>
            <a:endParaRPr lang="en-US" sz="1100">
              <a:ea typeface="Open Sans"/>
              <a:cs typeface="Open Sans"/>
            </a:endParaRPr>
          </a:p>
          <a:p>
            <a:pPr>
              <a:lnSpc>
                <a:spcPct val="200000"/>
              </a:lnSpc>
            </a:pPr>
            <a:r>
              <a:rPr lang="es-E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🚫 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A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medida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que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el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proyecto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crecía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,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el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mantenimiento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y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el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rendimiento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empeoraban</a:t>
            </a:r>
            <a:r>
              <a:rPr lang="en-US" sz="11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Calibri"/>
              </a:rPr>
              <a:t>.</a:t>
            </a:r>
            <a:endParaRPr lang="en-US" sz="1100"/>
          </a:p>
          <a:p>
            <a:pPr algn="l"/>
            <a:endParaRPr lang="en-US"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2134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" grpId="0" animBg="1"/>
      <p:bldP spid="10" grpId="0" animBg="1"/>
      <p:bldP spid="6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64D78-AF96-B86B-D71D-0C2662BCA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F569BB13-0C73-67BB-4F30-29DAC3AD5E80}"/>
              </a:ext>
            </a:extLst>
          </p:cNvPr>
          <p:cNvSpPr/>
          <p:nvPr/>
        </p:nvSpPr>
        <p:spPr>
          <a:xfrm>
            <a:off x="6154527" y="1166979"/>
            <a:ext cx="2788944" cy="175739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EF2952D-8A18-5D38-95FB-1AFEE421E03B}"/>
              </a:ext>
            </a:extLst>
          </p:cNvPr>
          <p:cNvSpPr/>
          <p:nvPr/>
        </p:nvSpPr>
        <p:spPr>
          <a:xfrm>
            <a:off x="396413" y="1268751"/>
            <a:ext cx="4613046" cy="16086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6A40461-FCF3-9B60-1036-E3DA1153E815}"/>
              </a:ext>
            </a:extLst>
          </p:cNvPr>
          <p:cNvSpPr/>
          <p:nvPr/>
        </p:nvSpPr>
        <p:spPr>
          <a:xfrm>
            <a:off x="2235897" y="1394304"/>
            <a:ext cx="2605412" cy="13606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91E5FD4-40FF-65B8-BA54-656E2E2BA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157" y="-1627"/>
            <a:ext cx="8334018" cy="810657"/>
          </a:xfrm>
        </p:spPr>
        <p:txBody>
          <a:bodyPr lIns="0" anchor="b"/>
          <a:lstStyle/>
          <a:p>
            <a:r>
              <a:rPr lang="es-ES_tradnl" sz="3600" spc="-300">
                <a:solidFill>
                  <a:srgbClr val="242415"/>
                </a:solidFill>
                <a:latin typeface="Montserrat SemiBold"/>
              </a:rPr>
              <a:t>Nuevas necesidades - nuevos problemas</a:t>
            </a:r>
            <a:endParaRPr lang="en-US" sz="360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244D956-0388-56DD-4F68-ED4142E0198D}"/>
              </a:ext>
            </a:extLst>
          </p:cNvPr>
          <p:cNvSpPr/>
          <p:nvPr/>
        </p:nvSpPr>
        <p:spPr>
          <a:xfrm>
            <a:off x="0" y="0"/>
            <a:ext cx="254000" cy="5143500"/>
          </a:xfrm>
          <a:prstGeom prst="rect">
            <a:avLst/>
          </a:prstGeom>
          <a:solidFill>
            <a:srgbClr val="D8D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_tradnl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BBDCE7F-64E9-C16C-6DF2-DB3FC9406B4F}"/>
              </a:ext>
            </a:extLst>
          </p:cNvPr>
          <p:cNvSpPr txBox="1"/>
          <p:nvPr/>
        </p:nvSpPr>
        <p:spPr>
          <a:xfrm>
            <a:off x="558570" y="2929691"/>
            <a:ext cx="4607642" cy="2202078"/>
          </a:xfrm>
          <a:prstGeom prst="rect">
            <a:avLst/>
          </a:prstGeom>
          <a:noFill/>
          <a:ln w="12700">
            <a:noFill/>
          </a:ln>
        </p:spPr>
        <p:txBody>
          <a:bodyPr wrap="square" lIns="72000" tIns="45720" rIns="72000" bIns="45720" rtlCol="0" anchor="t" anchorCtr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marR="0" indent="-17145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s-ES" b="1" dirty="0">
                <a:latin typeface="Open Sans"/>
                <a:ea typeface="Open Sans"/>
                <a:cs typeface="Open Sans"/>
              </a:rPr>
              <a:t>⭐ Aplicaciones más rápidas, optimizadas – solo en producción.</a:t>
            </a:r>
            <a:br>
              <a:rPr lang="es-ES" b="1" dirty="0">
                <a:latin typeface="Open Sans"/>
                <a:ea typeface="Open Sans"/>
                <a:cs typeface="Open Sans"/>
              </a:rPr>
            </a:br>
            <a:r>
              <a:rPr lang="es-ES" b="1" dirty="0">
                <a:latin typeface="Open Sans"/>
                <a:ea typeface="Open Sans"/>
                <a:cs typeface="Open Sans"/>
              </a:rPr>
              <a:t>⭐ Aprovechamiento nuevas </a:t>
            </a:r>
            <a:r>
              <a:rPr lang="es-ES" b="1" dirty="0" err="1">
                <a:latin typeface="Open Sans"/>
                <a:ea typeface="Open Sans"/>
                <a:cs typeface="Open Sans"/>
              </a:rPr>
              <a:t>features</a:t>
            </a:r>
            <a:r>
              <a:rPr lang="es-ES" b="1" dirty="0">
                <a:latin typeface="Open Sans"/>
                <a:ea typeface="Open Sans"/>
                <a:cs typeface="Open Sans"/>
              </a:rPr>
              <a:t> del lenguaje.</a:t>
            </a:r>
            <a:br>
              <a:rPr lang="es-ES" b="1" dirty="0">
                <a:latin typeface="Open Sans"/>
                <a:ea typeface="Open Sans"/>
                <a:cs typeface="Open Sans"/>
              </a:rPr>
            </a:br>
            <a:r>
              <a:rPr lang="es-ES" b="1" dirty="0">
                <a:latin typeface="Open Sans"/>
                <a:ea typeface="Open Sans"/>
                <a:cs typeface="Open Sans"/>
              </a:rPr>
              <a:t>⭐ </a:t>
            </a:r>
            <a:r>
              <a:rPr lang="es-ES" b="1" dirty="0" err="1">
                <a:latin typeface="Open Sans"/>
                <a:ea typeface="Open Sans"/>
                <a:cs typeface="Open Sans"/>
              </a:rPr>
              <a:t>Minificación</a:t>
            </a:r>
            <a:r>
              <a:rPr lang="es-ES" b="1" dirty="0">
                <a:latin typeface="Open Sans"/>
                <a:ea typeface="Open Sans"/>
                <a:cs typeface="Open Sans"/>
              </a:rPr>
              <a:t> del código.</a:t>
            </a:r>
            <a:br>
              <a:rPr lang="es-ES" b="1" dirty="0">
                <a:latin typeface="Open Sans"/>
                <a:ea typeface="Open Sans"/>
                <a:cs typeface="Open Sans"/>
              </a:rPr>
            </a:br>
            <a:r>
              <a:rPr lang="es-ES" b="1" dirty="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⭐ Optimización</a:t>
            </a:r>
            <a:r>
              <a:rPr lang="es-ES" b="1" dirty="0">
                <a:latin typeface="Open Sans"/>
                <a:ea typeface="Open Sans"/>
                <a:cs typeface="Open Sans"/>
              </a:rPr>
              <a:t> de </a:t>
            </a:r>
            <a:r>
              <a:rPr lang="es-ES" b="1" dirty="0" err="1">
                <a:latin typeface="Open Sans"/>
                <a:ea typeface="Open Sans"/>
                <a:cs typeface="Open Sans"/>
              </a:rPr>
              <a:t>imágenes</a:t>
            </a:r>
            <a:r>
              <a:rPr lang="es-ES" b="1" dirty="0">
                <a:latin typeface="Open Sans"/>
                <a:ea typeface="Open Sans"/>
                <a:cs typeface="Open Sans"/>
              </a:rPr>
              <a:t>.</a:t>
            </a:r>
            <a:br>
              <a:rPr lang="es-ES" b="1" dirty="0">
                <a:latin typeface="Open Sans"/>
                <a:ea typeface="Open Sans"/>
                <a:cs typeface="Open Sans"/>
              </a:rPr>
            </a:br>
            <a:r>
              <a:rPr lang="es-ES" b="1" dirty="0">
                <a:latin typeface="Open Sans"/>
                <a:ea typeface="Open Sans"/>
                <a:cs typeface="Open Sans"/>
              </a:rPr>
              <a:t>⭐ Concatenación de ficheros - número de bajadas en paralelo limitadas.</a:t>
            </a:r>
            <a:endParaRPr lang="es-ES" b="1" dirty="0"/>
          </a:p>
          <a:p>
            <a:pPr marL="0" indent="0">
              <a:lnSpc>
                <a:spcPct val="200000"/>
              </a:lnSpc>
              <a:buNone/>
            </a:pPr>
            <a:r>
              <a:rPr lang="es-ES" b="1" dirty="0">
                <a:latin typeface="Open Sans"/>
                <a:ea typeface="Open Sans"/>
                <a:cs typeface="Open Sans"/>
              </a:rPr>
              <a:t>⭐ Ejecución de </a:t>
            </a:r>
            <a:r>
              <a:rPr lang="es-ES" b="1" dirty="0" err="1">
                <a:latin typeface="Open Sans"/>
                <a:ea typeface="Open Sans"/>
                <a:cs typeface="Open Sans"/>
              </a:rPr>
              <a:t>formaters</a:t>
            </a:r>
            <a:r>
              <a:rPr lang="es-ES" b="1" dirty="0">
                <a:latin typeface="Open Sans"/>
                <a:ea typeface="Open Sans"/>
                <a:cs typeface="Open Sans"/>
              </a:rPr>
              <a:t>, </a:t>
            </a:r>
            <a:r>
              <a:rPr lang="es-ES" b="1" dirty="0" err="1">
                <a:latin typeface="Open Sans"/>
                <a:ea typeface="Open Sans"/>
                <a:cs typeface="Open Sans"/>
              </a:rPr>
              <a:t>linters</a:t>
            </a:r>
            <a:r>
              <a:rPr lang="es-ES" b="1">
                <a:latin typeface="Open Sans"/>
                <a:ea typeface="Open Sans"/>
                <a:cs typeface="Open Sans"/>
              </a:rPr>
              <a:t> y tests.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C484EDA6-EAA0-983D-E5D3-FB13971CCBE2}"/>
              </a:ext>
            </a:extLst>
          </p:cNvPr>
          <p:cNvSpPr txBox="1"/>
          <p:nvPr/>
        </p:nvSpPr>
        <p:spPr>
          <a:xfrm>
            <a:off x="5138619" y="2929691"/>
            <a:ext cx="4607642" cy="1894301"/>
          </a:xfrm>
          <a:prstGeom prst="rect">
            <a:avLst/>
          </a:prstGeom>
          <a:noFill/>
          <a:ln w="12700">
            <a:noFill/>
          </a:ln>
        </p:spPr>
        <p:txBody>
          <a:bodyPr wrap="square" lIns="72000" tIns="45720" rIns="72000" bIns="45720" rtlCol="0" anchor="t" anchorCtr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marR="0" indent="-17145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s-ES" b="1">
                <a:latin typeface="Open Sans"/>
                <a:ea typeface="Open Sans"/>
                <a:cs typeface="Open Sans"/>
              </a:rPr>
              <a:t>⭐ Cache </a:t>
            </a:r>
            <a:r>
              <a:rPr lang="es-ES" b="1" err="1">
                <a:latin typeface="Open Sans"/>
                <a:ea typeface="Open Sans"/>
                <a:cs typeface="Open Sans"/>
              </a:rPr>
              <a:t>busting</a:t>
            </a:r>
            <a:r>
              <a:rPr lang="es-ES" b="1">
                <a:latin typeface="Open Sans"/>
                <a:ea typeface="Open Sans"/>
                <a:cs typeface="Open Sans"/>
              </a:rPr>
              <a:t> mediante </a:t>
            </a:r>
            <a:r>
              <a:rPr lang="es-ES" b="1" err="1">
                <a:latin typeface="Open Sans"/>
                <a:ea typeface="Open Sans"/>
                <a:cs typeface="Open Sans"/>
              </a:rPr>
              <a:t>hashing</a:t>
            </a:r>
            <a:r>
              <a:rPr lang="es-ES" b="1">
                <a:latin typeface="Open Sans"/>
                <a:ea typeface="Open Sans"/>
                <a:cs typeface="Open Sans"/>
              </a:rPr>
              <a:t> de archivos.</a:t>
            </a:r>
            <a:br>
              <a:rPr lang="es-ES" b="1">
                <a:latin typeface="Open Sans"/>
                <a:ea typeface="Open Sans"/>
                <a:cs typeface="Open Sans"/>
              </a:rPr>
            </a:br>
            <a:r>
              <a:rPr lang="es-ES" b="1">
                <a:latin typeface="Open Sans"/>
                <a:ea typeface="Open Sans"/>
                <a:cs typeface="Open Sans"/>
              </a:rPr>
              <a:t>⭐ Tener una '</a:t>
            </a:r>
            <a:r>
              <a:rPr lang="es-ES" b="1" err="1">
                <a:latin typeface="Open Sans"/>
                <a:ea typeface="Open Sans"/>
                <a:cs typeface="Open Sans"/>
              </a:rPr>
              <a:t>build</a:t>
            </a:r>
            <a:r>
              <a:rPr lang="es-ES" b="1">
                <a:latin typeface="Open Sans"/>
                <a:ea typeface="Open Sans"/>
                <a:cs typeface="Open Sans"/>
              </a:rPr>
              <a:t>' idéntica para todos los </a:t>
            </a:r>
            <a:r>
              <a:rPr lang="es-ES" b="1" err="1">
                <a:latin typeface="Open Sans"/>
                <a:ea typeface="Open Sans"/>
                <a:cs typeface="Open Sans"/>
              </a:rPr>
              <a:t>desarrolladores</a:t>
            </a:r>
            <a:r>
              <a:rPr lang="es-ES" b="1">
                <a:latin typeface="Open Sans"/>
                <a:ea typeface="Open Sans"/>
                <a:cs typeface="Open Sans"/>
              </a:rPr>
              <a:t>.</a:t>
            </a:r>
            <a:br>
              <a:rPr lang="en-US"/>
            </a:br>
            <a:r>
              <a:rPr lang="es-ES" b="1">
                <a:latin typeface="Open Sans"/>
                <a:ea typeface="Open Sans"/>
                <a:cs typeface="Open Sans"/>
              </a:rPr>
              <a:t>⭐ Servir ficheros localmente, en servidor local.</a:t>
            </a:r>
            <a:br>
              <a:rPr lang="en-US"/>
            </a:br>
            <a:r>
              <a:rPr lang="es-ES" b="1">
                <a:latin typeface="Open Sans"/>
                <a:ea typeface="Open Sans"/>
                <a:cs typeface="Open Sans"/>
              </a:rPr>
              <a:t>⭐ Integración con otras herramientas </a:t>
            </a:r>
            <a:br>
              <a:rPr lang="es-ES" b="1">
                <a:latin typeface="Open Sans"/>
                <a:ea typeface="Open Sans"/>
                <a:cs typeface="Open Sans"/>
              </a:rPr>
            </a:br>
            <a:r>
              <a:rPr lang="es-ES" b="1">
                <a:latin typeface="Open Sans"/>
                <a:ea typeface="Open Sans"/>
                <a:cs typeface="Open Sans"/>
              </a:rPr>
              <a:t>⭐ HMR (Hot Module </a:t>
            </a:r>
            <a:r>
              <a:rPr lang="es-ES" b="1" err="1">
                <a:latin typeface="Open Sans"/>
                <a:ea typeface="Open Sans"/>
                <a:cs typeface="Open Sans"/>
              </a:rPr>
              <a:t>Reloading</a:t>
            </a:r>
            <a:r>
              <a:rPr lang="es-ES" b="1">
                <a:latin typeface="Open Sans"/>
                <a:ea typeface="Open Sans"/>
                <a:cs typeface="Open Sans"/>
              </a:rPr>
              <a:t>) - actualización automática.</a:t>
            </a:r>
            <a:br>
              <a:rPr lang="es-ES" b="1">
                <a:latin typeface="Open Sans"/>
                <a:ea typeface="Open Sans"/>
                <a:cs typeface="Open Sans"/>
              </a:rPr>
            </a:br>
            <a:r>
              <a:rPr lang="es-ES" b="1">
                <a:latin typeface="Open Sans"/>
                <a:ea typeface="Open Sans"/>
                <a:cs typeface="Open Sans"/>
              </a:rPr>
              <a:t>⭐ Gestionar recursos con </a:t>
            </a:r>
            <a:r>
              <a:rPr lang="es-ES" b="1" err="1">
                <a:latin typeface="Open Sans"/>
                <a:ea typeface="Open Sans"/>
                <a:cs typeface="Open Sans"/>
              </a:rPr>
              <a:t>lazy-loading</a:t>
            </a:r>
            <a:r>
              <a:rPr lang="es-ES" b="1">
                <a:latin typeface="Open Sans"/>
                <a:ea typeface="Open Sans"/>
                <a:cs typeface="Open Sans"/>
              </a:rPr>
              <a:t>.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7DF4BC-0C15-4F71-70F1-23F43BC4EEDB}"/>
              </a:ext>
            </a:extLst>
          </p:cNvPr>
          <p:cNvSpPr txBox="1"/>
          <p:nvPr/>
        </p:nvSpPr>
        <p:spPr>
          <a:xfrm>
            <a:off x="920838" y="898666"/>
            <a:ext cx="350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b="1"/>
              <a:t>Desarrollo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D925B6-5F5A-588D-0EB5-C81C52375BF6}"/>
              </a:ext>
            </a:extLst>
          </p:cNvPr>
          <p:cNvSpPr txBox="1"/>
          <p:nvPr/>
        </p:nvSpPr>
        <p:spPr>
          <a:xfrm>
            <a:off x="4982834" y="804561"/>
            <a:ext cx="4954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b="1"/>
              <a:t>Producción</a:t>
            </a:r>
          </a:p>
        </p:txBody>
      </p:sp>
      <p:sp>
        <p:nvSpPr>
          <p:cNvPr id="30" name="Right Arrow 9">
            <a:extLst>
              <a:ext uri="{FF2B5EF4-FFF2-40B4-BE49-F238E27FC236}">
                <a16:creationId xmlns:a16="http://schemas.microsoft.com/office/drawing/2014/main" id="{7F79CDEC-343D-788B-2027-3BC014CAF9AE}"/>
              </a:ext>
            </a:extLst>
          </p:cNvPr>
          <p:cNvSpPr/>
          <p:nvPr/>
        </p:nvSpPr>
        <p:spPr>
          <a:xfrm>
            <a:off x="4838253" y="1694795"/>
            <a:ext cx="1335317" cy="80464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ES">
                <a:ea typeface="Open Sans"/>
                <a:cs typeface="Open Sans"/>
              </a:rPr>
              <a:t>Bundling</a:t>
            </a:r>
            <a:endParaRPr lang="en-ES"/>
          </a:p>
        </p:txBody>
      </p:sp>
      <p:sp>
        <p:nvSpPr>
          <p:cNvPr id="70" name="Rounded Rectangle 1">
            <a:extLst>
              <a:ext uri="{FF2B5EF4-FFF2-40B4-BE49-F238E27FC236}">
                <a16:creationId xmlns:a16="http://schemas.microsoft.com/office/drawing/2014/main" id="{96F7BA34-ED5F-8AED-CF1C-316DE13D48B5}"/>
              </a:ext>
            </a:extLst>
          </p:cNvPr>
          <p:cNvSpPr/>
          <p:nvPr/>
        </p:nvSpPr>
        <p:spPr>
          <a:xfrm>
            <a:off x="6326993" y="1708403"/>
            <a:ext cx="2453567" cy="330837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 dirty="0"/>
              <a:t>Styles.sd234-2a.css</a:t>
            </a:r>
            <a:endParaRPr lang="en-US" sz="1600" dirty="0">
              <a:ea typeface="Open Sans"/>
              <a:cs typeface="Open Sans"/>
            </a:endParaRPr>
          </a:p>
        </p:txBody>
      </p:sp>
      <p:sp>
        <p:nvSpPr>
          <p:cNvPr id="72" name="Rounded Rectangle 1">
            <a:extLst>
              <a:ext uri="{FF2B5EF4-FFF2-40B4-BE49-F238E27FC236}">
                <a16:creationId xmlns:a16="http://schemas.microsoft.com/office/drawing/2014/main" id="{64EF3ED9-A113-BD0F-696D-92FA092BC196}"/>
              </a:ext>
            </a:extLst>
          </p:cNvPr>
          <p:cNvSpPr/>
          <p:nvPr/>
        </p:nvSpPr>
        <p:spPr>
          <a:xfrm>
            <a:off x="6328067" y="2100573"/>
            <a:ext cx="2453567" cy="330837"/>
          </a:xfrm>
          <a:prstGeom prst="roundRect">
            <a:avLst/>
          </a:prstGeom>
          <a:solidFill>
            <a:srgbClr val="00A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 dirty="0"/>
              <a:t>App.er453-e2.js</a:t>
            </a:r>
            <a:endParaRPr lang="en-GB" sz="1600" dirty="0">
              <a:solidFill>
                <a:srgbClr val="000000"/>
              </a:solidFill>
              <a:ea typeface="Open Sans"/>
              <a:cs typeface="Open Sans"/>
            </a:endParaRPr>
          </a:p>
        </p:txBody>
      </p:sp>
      <p:sp>
        <p:nvSpPr>
          <p:cNvPr id="98" name="Rounded Rectangle 1">
            <a:extLst>
              <a:ext uri="{FF2B5EF4-FFF2-40B4-BE49-F238E27FC236}">
                <a16:creationId xmlns:a16="http://schemas.microsoft.com/office/drawing/2014/main" id="{A6D38EE4-563E-B7FD-BCCD-DF81477AA4BF}"/>
              </a:ext>
            </a:extLst>
          </p:cNvPr>
          <p:cNvSpPr/>
          <p:nvPr/>
        </p:nvSpPr>
        <p:spPr>
          <a:xfrm>
            <a:off x="6328067" y="2479191"/>
            <a:ext cx="2453567" cy="330837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 dirty="0"/>
              <a:t>vendor.34r41a-re.js</a:t>
            </a:r>
            <a:endParaRPr lang="en-GB" sz="1600" dirty="0">
              <a:solidFill>
                <a:srgbClr val="000000"/>
              </a:solidFill>
              <a:ea typeface="Open Sans"/>
              <a:cs typeface="Open Sans"/>
            </a:endParaRPr>
          </a:p>
        </p:txBody>
      </p:sp>
      <p:sp>
        <p:nvSpPr>
          <p:cNvPr id="100" name="Rounded Rectangle 1">
            <a:extLst>
              <a:ext uri="{FF2B5EF4-FFF2-40B4-BE49-F238E27FC236}">
                <a16:creationId xmlns:a16="http://schemas.microsoft.com/office/drawing/2014/main" id="{C0620C3E-2C7D-3D6D-772A-914506C22F7B}"/>
              </a:ext>
            </a:extLst>
          </p:cNvPr>
          <p:cNvSpPr/>
          <p:nvPr/>
        </p:nvSpPr>
        <p:spPr>
          <a:xfrm>
            <a:off x="6329374" y="1317879"/>
            <a:ext cx="2453567" cy="33083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/>
              <a:t>index.html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150AA68E-47BE-0082-2519-DD3020E8AA1E}"/>
              </a:ext>
            </a:extLst>
          </p:cNvPr>
          <p:cNvSpPr/>
          <p:nvPr/>
        </p:nvSpPr>
        <p:spPr>
          <a:xfrm>
            <a:off x="2334859" y="1916556"/>
            <a:ext cx="754725" cy="330837"/>
          </a:xfrm>
          <a:prstGeom prst="roundRect">
            <a:avLst/>
          </a:prstGeom>
          <a:solidFill>
            <a:srgbClr val="00A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 err="1">
                <a:solidFill>
                  <a:srgbClr val="FFFFFF"/>
                </a:solidFill>
                <a:ea typeface="Open Sans"/>
                <a:cs typeface="Open Sans"/>
              </a:rPr>
              <a:t>ts</a:t>
            </a:r>
            <a:endParaRPr lang="en-US" err="1"/>
          </a:p>
        </p:txBody>
      </p:sp>
      <p:sp>
        <p:nvSpPr>
          <p:cNvPr id="9" name="Rounded Rectangle 1">
            <a:extLst>
              <a:ext uri="{FF2B5EF4-FFF2-40B4-BE49-F238E27FC236}">
                <a16:creationId xmlns:a16="http://schemas.microsoft.com/office/drawing/2014/main" id="{E298DB31-2EDD-999A-B24D-EBB69362AFD6}"/>
              </a:ext>
            </a:extLst>
          </p:cNvPr>
          <p:cNvSpPr/>
          <p:nvPr/>
        </p:nvSpPr>
        <p:spPr>
          <a:xfrm>
            <a:off x="2334859" y="2295174"/>
            <a:ext cx="754725" cy="330837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>
                <a:ea typeface="Open Sans"/>
                <a:cs typeface="Open Sans"/>
              </a:rPr>
              <a:t>lib.js</a:t>
            </a:r>
          </a:p>
        </p:txBody>
      </p:sp>
      <p:sp>
        <p:nvSpPr>
          <p:cNvPr id="12" name="Rounded Rectangle 1">
            <a:extLst>
              <a:ext uri="{FF2B5EF4-FFF2-40B4-BE49-F238E27FC236}">
                <a16:creationId xmlns:a16="http://schemas.microsoft.com/office/drawing/2014/main" id="{E2959A01-AB85-0FCA-A4E2-8B6E5C3ECF3E}"/>
              </a:ext>
            </a:extLst>
          </p:cNvPr>
          <p:cNvSpPr/>
          <p:nvPr/>
        </p:nvSpPr>
        <p:spPr>
          <a:xfrm>
            <a:off x="2336166" y="1525301"/>
            <a:ext cx="754725" cy="33083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/>
              <a:t>html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20" name="Rounded Rectangle 1">
            <a:extLst>
              <a:ext uri="{FF2B5EF4-FFF2-40B4-BE49-F238E27FC236}">
                <a16:creationId xmlns:a16="http://schemas.microsoft.com/office/drawing/2014/main" id="{DBEB28AE-FFF6-8747-5B84-D82CCAE53188}"/>
              </a:ext>
            </a:extLst>
          </p:cNvPr>
          <p:cNvSpPr/>
          <p:nvPr/>
        </p:nvSpPr>
        <p:spPr>
          <a:xfrm>
            <a:off x="3160533" y="2298827"/>
            <a:ext cx="754725" cy="330837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>
                <a:ea typeface="Open Sans"/>
                <a:cs typeface="Open Sans"/>
              </a:rPr>
              <a:t>lib.js</a:t>
            </a:r>
          </a:p>
        </p:txBody>
      </p:sp>
      <p:sp>
        <p:nvSpPr>
          <p:cNvPr id="27" name="Rounded Rectangle 1">
            <a:extLst>
              <a:ext uri="{FF2B5EF4-FFF2-40B4-BE49-F238E27FC236}">
                <a16:creationId xmlns:a16="http://schemas.microsoft.com/office/drawing/2014/main" id="{196261F0-9DA7-E50B-9441-F54529C3C76B}"/>
              </a:ext>
            </a:extLst>
          </p:cNvPr>
          <p:cNvSpPr/>
          <p:nvPr/>
        </p:nvSpPr>
        <p:spPr>
          <a:xfrm>
            <a:off x="3156358" y="1916034"/>
            <a:ext cx="754725" cy="330837"/>
          </a:xfrm>
          <a:prstGeom prst="roundRect">
            <a:avLst/>
          </a:prstGeom>
          <a:solidFill>
            <a:srgbClr val="00A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 err="1">
                <a:solidFill>
                  <a:srgbClr val="FFFFFF"/>
                </a:solidFill>
                <a:ea typeface="Open Sans"/>
                <a:cs typeface="Open Sans"/>
              </a:rPr>
              <a:t>ts</a:t>
            </a:r>
            <a:endParaRPr lang="en-US" err="1"/>
          </a:p>
        </p:txBody>
      </p:sp>
      <p:sp>
        <p:nvSpPr>
          <p:cNvPr id="37" name="Rounded Rectangle 1">
            <a:extLst>
              <a:ext uri="{FF2B5EF4-FFF2-40B4-BE49-F238E27FC236}">
                <a16:creationId xmlns:a16="http://schemas.microsoft.com/office/drawing/2014/main" id="{3C5C6247-A891-1C4E-BC99-7D82773B9055}"/>
              </a:ext>
            </a:extLst>
          </p:cNvPr>
          <p:cNvSpPr/>
          <p:nvPr/>
        </p:nvSpPr>
        <p:spPr>
          <a:xfrm>
            <a:off x="3962721" y="2302480"/>
            <a:ext cx="754725" cy="330837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>
                <a:ea typeface="Open Sans"/>
                <a:cs typeface="Open Sans"/>
              </a:rPr>
              <a:t>lib.js</a:t>
            </a:r>
          </a:p>
        </p:txBody>
      </p:sp>
      <p:sp>
        <p:nvSpPr>
          <p:cNvPr id="41" name="Rounded Rectangle 1">
            <a:extLst>
              <a:ext uri="{FF2B5EF4-FFF2-40B4-BE49-F238E27FC236}">
                <a16:creationId xmlns:a16="http://schemas.microsoft.com/office/drawing/2014/main" id="{527999CE-842D-ABCB-1606-C56F438A5BF8}"/>
              </a:ext>
            </a:extLst>
          </p:cNvPr>
          <p:cNvSpPr/>
          <p:nvPr/>
        </p:nvSpPr>
        <p:spPr>
          <a:xfrm>
            <a:off x="3974203" y="1919687"/>
            <a:ext cx="754725" cy="330837"/>
          </a:xfrm>
          <a:prstGeom prst="roundRect">
            <a:avLst/>
          </a:prstGeom>
          <a:solidFill>
            <a:srgbClr val="00A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 err="1">
                <a:solidFill>
                  <a:srgbClr val="FFFFFF"/>
                </a:solidFill>
                <a:ea typeface="Open Sans"/>
                <a:cs typeface="Open Sans"/>
              </a:rPr>
              <a:t>ts</a:t>
            </a:r>
            <a:endParaRPr lang="en-US" err="1"/>
          </a:p>
        </p:txBody>
      </p:sp>
      <p:sp>
        <p:nvSpPr>
          <p:cNvPr id="43" name="Rounded Rectangle 1">
            <a:extLst>
              <a:ext uri="{FF2B5EF4-FFF2-40B4-BE49-F238E27FC236}">
                <a16:creationId xmlns:a16="http://schemas.microsoft.com/office/drawing/2014/main" id="{7970DC47-8FD4-DDA7-8BDE-A5B6DBC31416}"/>
              </a:ext>
            </a:extLst>
          </p:cNvPr>
          <p:cNvSpPr/>
          <p:nvPr/>
        </p:nvSpPr>
        <p:spPr>
          <a:xfrm>
            <a:off x="3167288" y="1528039"/>
            <a:ext cx="754725" cy="330837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 err="1"/>
              <a:t>css</a:t>
            </a:r>
            <a:endParaRPr lang="en-US" err="1"/>
          </a:p>
        </p:txBody>
      </p:sp>
      <p:sp>
        <p:nvSpPr>
          <p:cNvPr id="45" name="Rounded Rectangle 1">
            <a:extLst>
              <a:ext uri="{FF2B5EF4-FFF2-40B4-BE49-F238E27FC236}">
                <a16:creationId xmlns:a16="http://schemas.microsoft.com/office/drawing/2014/main" id="{052DD250-8EE9-1FB1-5884-7F3C018E6A8B}"/>
              </a:ext>
            </a:extLst>
          </p:cNvPr>
          <p:cNvSpPr/>
          <p:nvPr/>
        </p:nvSpPr>
        <p:spPr>
          <a:xfrm>
            <a:off x="3977304" y="1531693"/>
            <a:ext cx="754725" cy="330837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 err="1"/>
              <a:t>css</a:t>
            </a:r>
            <a:endParaRPr lang="en-US" err="1"/>
          </a:p>
        </p:txBody>
      </p:sp>
      <p:sp>
        <p:nvSpPr>
          <p:cNvPr id="64" name="Rounded Rectangle 1">
            <a:extLst>
              <a:ext uri="{FF2B5EF4-FFF2-40B4-BE49-F238E27FC236}">
                <a16:creationId xmlns:a16="http://schemas.microsoft.com/office/drawing/2014/main" id="{4436317D-1968-63CC-1387-ADA549481A21}"/>
              </a:ext>
            </a:extLst>
          </p:cNvPr>
          <p:cNvSpPr/>
          <p:nvPr/>
        </p:nvSpPr>
        <p:spPr>
          <a:xfrm>
            <a:off x="544651" y="1355808"/>
            <a:ext cx="1600232" cy="291693"/>
          </a:xfrm>
          <a:custGeom>
            <a:avLst/>
            <a:gdLst>
              <a:gd name="csX0" fmla="*/ 0 w 1600232"/>
              <a:gd name="csY0" fmla="*/ 48616 h 291693"/>
              <a:gd name="csX1" fmla="*/ 48616 w 1600232"/>
              <a:gd name="csY1" fmla="*/ 0 h 291693"/>
              <a:gd name="csX2" fmla="*/ 579676 w 1600232"/>
              <a:gd name="csY2" fmla="*/ 0 h 291693"/>
              <a:gd name="csX3" fmla="*/ 1095706 w 1600232"/>
              <a:gd name="csY3" fmla="*/ 0 h 291693"/>
              <a:gd name="csX4" fmla="*/ 1551616 w 1600232"/>
              <a:gd name="csY4" fmla="*/ 0 h 291693"/>
              <a:gd name="csX5" fmla="*/ 1600232 w 1600232"/>
              <a:gd name="csY5" fmla="*/ 48616 h 291693"/>
              <a:gd name="csX6" fmla="*/ 1600232 w 1600232"/>
              <a:gd name="csY6" fmla="*/ 243077 h 291693"/>
              <a:gd name="csX7" fmla="*/ 1551616 w 1600232"/>
              <a:gd name="csY7" fmla="*/ 291693 h 291693"/>
              <a:gd name="csX8" fmla="*/ 1035586 w 1600232"/>
              <a:gd name="csY8" fmla="*/ 291693 h 291693"/>
              <a:gd name="csX9" fmla="*/ 564646 w 1600232"/>
              <a:gd name="csY9" fmla="*/ 291693 h 291693"/>
              <a:gd name="csX10" fmla="*/ 48616 w 1600232"/>
              <a:gd name="csY10" fmla="*/ 291693 h 291693"/>
              <a:gd name="csX11" fmla="*/ 0 w 1600232"/>
              <a:gd name="csY11" fmla="*/ 243077 h 291693"/>
              <a:gd name="csX12" fmla="*/ 0 w 1600232"/>
              <a:gd name="csY12" fmla="*/ 48616 h 291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00232" h="291693" extrusionOk="0">
                <a:moveTo>
                  <a:pt x="0" y="48616"/>
                </a:moveTo>
                <a:cubicBezTo>
                  <a:pt x="-480" y="20258"/>
                  <a:pt x="17098" y="402"/>
                  <a:pt x="48616" y="0"/>
                </a:cubicBezTo>
                <a:cubicBezTo>
                  <a:pt x="307954" y="24497"/>
                  <a:pt x="342105" y="-19442"/>
                  <a:pt x="579676" y="0"/>
                </a:cubicBezTo>
                <a:cubicBezTo>
                  <a:pt x="817247" y="19442"/>
                  <a:pt x="933631" y="-9146"/>
                  <a:pt x="1095706" y="0"/>
                </a:cubicBezTo>
                <a:cubicBezTo>
                  <a:pt x="1257781" y="9146"/>
                  <a:pt x="1420331" y="-7076"/>
                  <a:pt x="1551616" y="0"/>
                </a:cubicBezTo>
                <a:cubicBezTo>
                  <a:pt x="1582795" y="-1584"/>
                  <a:pt x="1597211" y="23611"/>
                  <a:pt x="1600232" y="48616"/>
                </a:cubicBezTo>
                <a:cubicBezTo>
                  <a:pt x="1596147" y="99733"/>
                  <a:pt x="1596833" y="201599"/>
                  <a:pt x="1600232" y="243077"/>
                </a:cubicBezTo>
                <a:cubicBezTo>
                  <a:pt x="1598130" y="270800"/>
                  <a:pt x="1581036" y="286569"/>
                  <a:pt x="1551616" y="291693"/>
                </a:cubicBezTo>
                <a:cubicBezTo>
                  <a:pt x="1373173" y="293062"/>
                  <a:pt x="1285466" y="289722"/>
                  <a:pt x="1035586" y="291693"/>
                </a:cubicBezTo>
                <a:cubicBezTo>
                  <a:pt x="785706" y="293665"/>
                  <a:pt x="798797" y="292116"/>
                  <a:pt x="564646" y="291693"/>
                </a:cubicBezTo>
                <a:cubicBezTo>
                  <a:pt x="330495" y="291270"/>
                  <a:pt x="303458" y="282704"/>
                  <a:pt x="48616" y="291693"/>
                </a:cubicBezTo>
                <a:cubicBezTo>
                  <a:pt x="22632" y="295655"/>
                  <a:pt x="908" y="269831"/>
                  <a:pt x="0" y="243077"/>
                </a:cubicBezTo>
                <a:cubicBezTo>
                  <a:pt x="6353" y="167455"/>
                  <a:pt x="5845" y="138220"/>
                  <a:pt x="0" y="48616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49921161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ES6-moderno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Rounded Rectangle 1">
            <a:extLst>
              <a:ext uri="{FF2B5EF4-FFF2-40B4-BE49-F238E27FC236}">
                <a16:creationId xmlns:a16="http://schemas.microsoft.com/office/drawing/2014/main" id="{505E0E8A-5E0F-D54D-E3ED-A095843586DF}"/>
              </a:ext>
            </a:extLst>
          </p:cNvPr>
          <p:cNvSpPr/>
          <p:nvPr/>
        </p:nvSpPr>
        <p:spPr>
          <a:xfrm>
            <a:off x="548304" y="1743071"/>
            <a:ext cx="1600232" cy="291693"/>
          </a:xfrm>
          <a:custGeom>
            <a:avLst/>
            <a:gdLst>
              <a:gd name="csX0" fmla="*/ 0 w 1600232"/>
              <a:gd name="csY0" fmla="*/ 48616 h 291693"/>
              <a:gd name="csX1" fmla="*/ 48616 w 1600232"/>
              <a:gd name="csY1" fmla="*/ 0 h 291693"/>
              <a:gd name="csX2" fmla="*/ 579676 w 1600232"/>
              <a:gd name="csY2" fmla="*/ 0 h 291693"/>
              <a:gd name="csX3" fmla="*/ 1095706 w 1600232"/>
              <a:gd name="csY3" fmla="*/ 0 h 291693"/>
              <a:gd name="csX4" fmla="*/ 1551616 w 1600232"/>
              <a:gd name="csY4" fmla="*/ 0 h 291693"/>
              <a:gd name="csX5" fmla="*/ 1600232 w 1600232"/>
              <a:gd name="csY5" fmla="*/ 48616 h 291693"/>
              <a:gd name="csX6" fmla="*/ 1600232 w 1600232"/>
              <a:gd name="csY6" fmla="*/ 243077 h 291693"/>
              <a:gd name="csX7" fmla="*/ 1551616 w 1600232"/>
              <a:gd name="csY7" fmla="*/ 291693 h 291693"/>
              <a:gd name="csX8" fmla="*/ 1035586 w 1600232"/>
              <a:gd name="csY8" fmla="*/ 291693 h 291693"/>
              <a:gd name="csX9" fmla="*/ 564646 w 1600232"/>
              <a:gd name="csY9" fmla="*/ 291693 h 291693"/>
              <a:gd name="csX10" fmla="*/ 48616 w 1600232"/>
              <a:gd name="csY10" fmla="*/ 291693 h 291693"/>
              <a:gd name="csX11" fmla="*/ 0 w 1600232"/>
              <a:gd name="csY11" fmla="*/ 243077 h 291693"/>
              <a:gd name="csX12" fmla="*/ 0 w 1600232"/>
              <a:gd name="csY12" fmla="*/ 48616 h 291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00232" h="291693" extrusionOk="0">
                <a:moveTo>
                  <a:pt x="0" y="48616"/>
                </a:moveTo>
                <a:cubicBezTo>
                  <a:pt x="-480" y="20258"/>
                  <a:pt x="17098" y="402"/>
                  <a:pt x="48616" y="0"/>
                </a:cubicBezTo>
                <a:cubicBezTo>
                  <a:pt x="307954" y="24497"/>
                  <a:pt x="342105" y="-19442"/>
                  <a:pt x="579676" y="0"/>
                </a:cubicBezTo>
                <a:cubicBezTo>
                  <a:pt x="817247" y="19442"/>
                  <a:pt x="933631" y="-9146"/>
                  <a:pt x="1095706" y="0"/>
                </a:cubicBezTo>
                <a:cubicBezTo>
                  <a:pt x="1257781" y="9146"/>
                  <a:pt x="1420331" y="-7076"/>
                  <a:pt x="1551616" y="0"/>
                </a:cubicBezTo>
                <a:cubicBezTo>
                  <a:pt x="1582795" y="-1584"/>
                  <a:pt x="1597211" y="23611"/>
                  <a:pt x="1600232" y="48616"/>
                </a:cubicBezTo>
                <a:cubicBezTo>
                  <a:pt x="1596147" y="99733"/>
                  <a:pt x="1596833" y="201599"/>
                  <a:pt x="1600232" y="243077"/>
                </a:cubicBezTo>
                <a:cubicBezTo>
                  <a:pt x="1598130" y="270800"/>
                  <a:pt x="1581036" y="286569"/>
                  <a:pt x="1551616" y="291693"/>
                </a:cubicBezTo>
                <a:cubicBezTo>
                  <a:pt x="1373173" y="293062"/>
                  <a:pt x="1285466" y="289722"/>
                  <a:pt x="1035586" y="291693"/>
                </a:cubicBezTo>
                <a:cubicBezTo>
                  <a:pt x="785706" y="293665"/>
                  <a:pt x="798797" y="292116"/>
                  <a:pt x="564646" y="291693"/>
                </a:cubicBezTo>
                <a:cubicBezTo>
                  <a:pt x="330495" y="291270"/>
                  <a:pt x="303458" y="282704"/>
                  <a:pt x="48616" y="291693"/>
                </a:cubicBezTo>
                <a:cubicBezTo>
                  <a:pt x="22632" y="295655"/>
                  <a:pt x="908" y="269831"/>
                  <a:pt x="0" y="243077"/>
                </a:cubicBezTo>
                <a:cubicBezTo>
                  <a:pt x="6353" y="167455"/>
                  <a:pt x="5845" y="138220"/>
                  <a:pt x="0" y="48616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49921161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  <a:ea typeface="Open Sans"/>
                <a:cs typeface="Open Sans"/>
              </a:rPr>
              <a:t>typescript</a:t>
            </a:r>
          </a:p>
        </p:txBody>
      </p:sp>
      <p:sp>
        <p:nvSpPr>
          <p:cNvPr id="75" name="Rounded Rectangle 1">
            <a:extLst>
              <a:ext uri="{FF2B5EF4-FFF2-40B4-BE49-F238E27FC236}">
                <a16:creationId xmlns:a16="http://schemas.microsoft.com/office/drawing/2014/main" id="{41EB066F-370E-89CF-9F81-82E40C54B141}"/>
              </a:ext>
            </a:extLst>
          </p:cNvPr>
          <p:cNvSpPr/>
          <p:nvPr/>
        </p:nvSpPr>
        <p:spPr>
          <a:xfrm>
            <a:off x="551957" y="2122505"/>
            <a:ext cx="1600232" cy="291693"/>
          </a:xfrm>
          <a:custGeom>
            <a:avLst/>
            <a:gdLst>
              <a:gd name="csX0" fmla="*/ 0 w 1600232"/>
              <a:gd name="csY0" fmla="*/ 48616 h 291693"/>
              <a:gd name="csX1" fmla="*/ 48616 w 1600232"/>
              <a:gd name="csY1" fmla="*/ 0 h 291693"/>
              <a:gd name="csX2" fmla="*/ 579676 w 1600232"/>
              <a:gd name="csY2" fmla="*/ 0 h 291693"/>
              <a:gd name="csX3" fmla="*/ 1095706 w 1600232"/>
              <a:gd name="csY3" fmla="*/ 0 h 291693"/>
              <a:gd name="csX4" fmla="*/ 1551616 w 1600232"/>
              <a:gd name="csY4" fmla="*/ 0 h 291693"/>
              <a:gd name="csX5" fmla="*/ 1600232 w 1600232"/>
              <a:gd name="csY5" fmla="*/ 48616 h 291693"/>
              <a:gd name="csX6" fmla="*/ 1600232 w 1600232"/>
              <a:gd name="csY6" fmla="*/ 243077 h 291693"/>
              <a:gd name="csX7" fmla="*/ 1551616 w 1600232"/>
              <a:gd name="csY7" fmla="*/ 291693 h 291693"/>
              <a:gd name="csX8" fmla="*/ 1035586 w 1600232"/>
              <a:gd name="csY8" fmla="*/ 291693 h 291693"/>
              <a:gd name="csX9" fmla="*/ 564646 w 1600232"/>
              <a:gd name="csY9" fmla="*/ 291693 h 291693"/>
              <a:gd name="csX10" fmla="*/ 48616 w 1600232"/>
              <a:gd name="csY10" fmla="*/ 291693 h 291693"/>
              <a:gd name="csX11" fmla="*/ 0 w 1600232"/>
              <a:gd name="csY11" fmla="*/ 243077 h 291693"/>
              <a:gd name="csX12" fmla="*/ 0 w 1600232"/>
              <a:gd name="csY12" fmla="*/ 48616 h 291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00232" h="291693" extrusionOk="0">
                <a:moveTo>
                  <a:pt x="0" y="48616"/>
                </a:moveTo>
                <a:cubicBezTo>
                  <a:pt x="-480" y="20258"/>
                  <a:pt x="17098" y="402"/>
                  <a:pt x="48616" y="0"/>
                </a:cubicBezTo>
                <a:cubicBezTo>
                  <a:pt x="307954" y="24497"/>
                  <a:pt x="342105" y="-19442"/>
                  <a:pt x="579676" y="0"/>
                </a:cubicBezTo>
                <a:cubicBezTo>
                  <a:pt x="817247" y="19442"/>
                  <a:pt x="933631" y="-9146"/>
                  <a:pt x="1095706" y="0"/>
                </a:cubicBezTo>
                <a:cubicBezTo>
                  <a:pt x="1257781" y="9146"/>
                  <a:pt x="1420331" y="-7076"/>
                  <a:pt x="1551616" y="0"/>
                </a:cubicBezTo>
                <a:cubicBezTo>
                  <a:pt x="1582795" y="-1584"/>
                  <a:pt x="1597211" y="23611"/>
                  <a:pt x="1600232" y="48616"/>
                </a:cubicBezTo>
                <a:cubicBezTo>
                  <a:pt x="1596147" y="99733"/>
                  <a:pt x="1596833" y="201599"/>
                  <a:pt x="1600232" y="243077"/>
                </a:cubicBezTo>
                <a:cubicBezTo>
                  <a:pt x="1598130" y="270800"/>
                  <a:pt x="1581036" y="286569"/>
                  <a:pt x="1551616" y="291693"/>
                </a:cubicBezTo>
                <a:cubicBezTo>
                  <a:pt x="1373173" y="293062"/>
                  <a:pt x="1285466" y="289722"/>
                  <a:pt x="1035586" y="291693"/>
                </a:cubicBezTo>
                <a:cubicBezTo>
                  <a:pt x="785706" y="293665"/>
                  <a:pt x="798797" y="292116"/>
                  <a:pt x="564646" y="291693"/>
                </a:cubicBezTo>
                <a:cubicBezTo>
                  <a:pt x="330495" y="291270"/>
                  <a:pt x="303458" y="282704"/>
                  <a:pt x="48616" y="291693"/>
                </a:cubicBezTo>
                <a:cubicBezTo>
                  <a:pt x="22632" y="295655"/>
                  <a:pt x="908" y="269831"/>
                  <a:pt x="0" y="243077"/>
                </a:cubicBezTo>
                <a:cubicBezTo>
                  <a:pt x="6353" y="167455"/>
                  <a:pt x="5845" y="138220"/>
                  <a:pt x="0" y="48616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49921161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  <a:ea typeface="Open Sans"/>
                <a:cs typeface="Open Sans"/>
              </a:rPr>
              <a:t>testing</a:t>
            </a:r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77" name="Rounded Rectangle 1">
            <a:extLst>
              <a:ext uri="{FF2B5EF4-FFF2-40B4-BE49-F238E27FC236}">
                <a16:creationId xmlns:a16="http://schemas.microsoft.com/office/drawing/2014/main" id="{3D4337C4-0AF3-0D9B-3FA6-41713081B722}"/>
              </a:ext>
            </a:extLst>
          </p:cNvPr>
          <p:cNvSpPr/>
          <p:nvPr/>
        </p:nvSpPr>
        <p:spPr>
          <a:xfrm>
            <a:off x="555610" y="2501940"/>
            <a:ext cx="1600232" cy="291693"/>
          </a:xfrm>
          <a:custGeom>
            <a:avLst/>
            <a:gdLst>
              <a:gd name="csX0" fmla="*/ 0 w 1600232"/>
              <a:gd name="csY0" fmla="*/ 48616 h 291693"/>
              <a:gd name="csX1" fmla="*/ 48616 w 1600232"/>
              <a:gd name="csY1" fmla="*/ 0 h 291693"/>
              <a:gd name="csX2" fmla="*/ 579676 w 1600232"/>
              <a:gd name="csY2" fmla="*/ 0 h 291693"/>
              <a:gd name="csX3" fmla="*/ 1095706 w 1600232"/>
              <a:gd name="csY3" fmla="*/ 0 h 291693"/>
              <a:gd name="csX4" fmla="*/ 1551616 w 1600232"/>
              <a:gd name="csY4" fmla="*/ 0 h 291693"/>
              <a:gd name="csX5" fmla="*/ 1600232 w 1600232"/>
              <a:gd name="csY5" fmla="*/ 48616 h 291693"/>
              <a:gd name="csX6" fmla="*/ 1600232 w 1600232"/>
              <a:gd name="csY6" fmla="*/ 243077 h 291693"/>
              <a:gd name="csX7" fmla="*/ 1551616 w 1600232"/>
              <a:gd name="csY7" fmla="*/ 291693 h 291693"/>
              <a:gd name="csX8" fmla="*/ 1035586 w 1600232"/>
              <a:gd name="csY8" fmla="*/ 291693 h 291693"/>
              <a:gd name="csX9" fmla="*/ 564646 w 1600232"/>
              <a:gd name="csY9" fmla="*/ 291693 h 291693"/>
              <a:gd name="csX10" fmla="*/ 48616 w 1600232"/>
              <a:gd name="csY10" fmla="*/ 291693 h 291693"/>
              <a:gd name="csX11" fmla="*/ 0 w 1600232"/>
              <a:gd name="csY11" fmla="*/ 243077 h 291693"/>
              <a:gd name="csX12" fmla="*/ 0 w 1600232"/>
              <a:gd name="csY12" fmla="*/ 48616 h 291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00232" h="291693" extrusionOk="0">
                <a:moveTo>
                  <a:pt x="0" y="48616"/>
                </a:moveTo>
                <a:cubicBezTo>
                  <a:pt x="-480" y="20258"/>
                  <a:pt x="17098" y="402"/>
                  <a:pt x="48616" y="0"/>
                </a:cubicBezTo>
                <a:cubicBezTo>
                  <a:pt x="307954" y="24497"/>
                  <a:pt x="342105" y="-19442"/>
                  <a:pt x="579676" y="0"/>
                </a:cubicBezTo>
                <a:cubicBezTo>
                  <a:pt x="817247" y="19442"/>
                  <a:pt x="933631" y="-9146"/>
                  <a:pt x="1095706" y="0"/>
                </a:cubicBezTo>
                <a:cubicBezTo>
                  <a:pt x="1257781" y="9146"/>
                  <a:pt x="1420331" y="-7076"/>
                  <a:pt x="1551616" y="0"/>
                </a:cubicBezTo>
                <a:cubicBezTo>
                  <a:pt x="1582795" y="-1584"/>
                  <a:pt x="1597211" y="23611"/>
                  <a:pt x="1600232" y="48616"/>
                </a:cubicBezTo>
                <a:cubicBezTo>
                  <a:pt x="1596147" y="99733"/>
                  <a:pt x="1596833" y="201599"/>
                  <a:pt x="1600232" y="243077"/>
                </a:cubicBezTo>
                <a:cubicBezTo>
                  <a:pt x="1598130" y="270800"/>
                  <a:pt x="1581036" y="286569"/>
                  <a:pt x="1551616" y="291693"/>
                </a:cubicBezTo>
                <a:cubicBezTo>
                  <a:pt x="1373173" y="293062"/>
                  <a:pt x="1285466" y="289722"/>
                  <a:pt x="1035586" y="291693"/>
                </a:cubicBezTo>
                <a:cubicBezTo>
                  <a:pt x="785706" y="293665"/>
                  <a:pt x="798797" y="292116"/>
                  <a:pt x="564646" y="291693"/>
                </a:cubicBezTo>
                <a:cubicBezTo>
                  <a:pt x="330495" y="291270"/>
                  <a:pt x="303458" y="282704"/>
                  <a:pt x="48616" y="291693"/>
                </a:cubicBezTo>
                <a:cubicBezTo>
                  <a:pt x="22632" y="295655"/>
                  <a:pt x="908" y="269831"/>
                  <a:pt x="0" y="243077"/>
                </a:cubicBezTo>
                <a:cubicBezTo>
                  <a:pt x="6353" y="167455"/>
                  <a:pt x="5845" y="138220"/>
                  <a:pt x="0" y="48616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349921161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 err="1">
                <a:solidFill>
                  <a:schemeClr val="tx1"/>
                </a:solidFill>
                <a:ea typeface="Open Sans"/>
                <a:cs typeface="Open Sans"/>
              </a:rPr>
              <a:t>manejo</a:t>
            </a:r>
            <a:r>
              <a:rPr lang="en-GB" sz="1600">
                <a:solidFill>
                  <a:schemeClr val="tx1"/>
                </a:solidFill>
                <a:ea typeface="Open Sans"/>
                <a:cs typeface="Open Sans"/>
              </a:rPr>
              <a:t> </a:t>
            </a:r>
            <a:r>
              <a:rPr lang="en-GB" sz="1600" err="1">
                <a:solidFill>
                  <a:schemeClr val="tx1"/>
                </a:solidFill>
                <a:ea typeface="Open Sans"/>
                <a:cs typeface="Open Sans"/>
              </a:rPr>
              <a:t>estilos</a:t>
            </a:r>
            <a:endParaRPr lang="en-US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1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9" grpId="0" animBg="1"/>
      <p:bldP spid="75" grpId="0" animBg="1"/>
      <p:bldP spid="77" grpId="0" animBg="1"/>
      <p:bldP spid="7" grpId="0" animBg="1"/>
      <p:bldP spid="9" grpId="0" animBg="1"/>
      <p:bldP spid="12" grpId="0" animBg="1"/>
      <p:bldP spid="20" grpId="0" animBg="1"/>
      <p:bldP spid="27" grpId="0" animBg="1"/>
      <p:bldP spid="37" grpId="0" animBg="1"/>
      <p:bldP spid="41" grpId="0" animBg="1"/>
      <p:bldP spid="43" grpId="0" animBg="1"/>
      <p:bldP spid="45" grpId="0" animBg="1"/>
      <p:bldP spid="30" grpId="0" animBg="1"/>
      <p:bldP spid="70" grpId="0" animBg="1"/>
      <p:bldP spid="72" grpId="0" animBg="1"/>
      <p:bldP spid="98" grpId="0" animBg="1"/>
      <p:bldP spid="10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C72D7-7DCF-E418-FEEA-29FDA0921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5EE61E70-ECE2-2C24-E14A-84D57C781AD2}"/>
              </a:ext>
            </a:extLst>
          </p:cNvPr>
          <p:cNvSpPr/>
          <p:nvPr/>
        </p:nvSpPr>
        <p:spPr>
          <a:xfrm>
            <a:off x="0" y="0"/>
            <a:ext cx="254000" cy="5143500"/>
          </a:xfrm>
          <a:prstGeom prst="rect">
            <a:avLst/>
          </a:prstGeom>
          <a:solidFill>
            <a:srgbClr val="D8D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_tradnl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BABD54B-5F9E-0177-AE1B-71B64098D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735691"/>
              </p:ext>
            </p:extLst>
          </p:nvPr>
        </p:nvGraphicFramePr>
        <p:xfrm>
          <a:off x="414924" y="156575"/>
          <a:ext cx="8186063" cy="749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1645">
                  <a:extLst>
                    <a:ext uri="{9D8B030D-6E8A-4147-A177-3AD203B41FA5}">
                      <a16:colId xmlns:a16="http://schemas.microsoft.com/office/drawing/2014/main" val="2658591380"/>
                    </a:ext>
                  </a:extLst>
                </a:gridCol>
                <a:gridCol w="4194418">
                  <a:extLst>
                    <a:ext uri="{9D8B030D-6E8A-4147-A177-3AD203B41FA5}">
                      <a16:colId xmlns:a16="http://schemas.microsoft.com/office/drawing/2014/main" val="1171762589"/>
                    </a:ext>
                  </a:extLst>
                </a:gridCol>
              </a:tblGrid>
              <a:tr h="74954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         </a:t>
                      </a:r>
                      <a:r>
                        <a:rPr lang="en-US" sz="2800" b="0" dirty="0"/>
                        <a:t>webpack</a:t>
                      </a:r>
                      <a:endParaRPr lang="en-US" sz="2800" b="0" i="0" u="none" strike="noStrike" noProof="0" dirty="0">
                        <a:solidFill>
                          <a:srgbClr val="FFFFFF"/>
                        </a:solidFill>
                        <a:latin typeface="Open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i="0" u="none" strike="noStrike" noProof="0" dirty="0">
                          <a:solidFill>
                            <a:srgbClr val="FFFFFF"/>
                          </a:solidFill>
                          <a:latin typeface="Open Sans"/>
                        </a:rPr>
                        <a:t>     </a:t>
                      </a:r>
                      <a:r>
                        <a:rPr lang="en-US" sz="2800" b="0" i="0" u="none" strike="noStrike" noProof="0" dirty="0" err="1">
                          <a:solidFill>
                            <a:srgbClr val="FFFFFF"/>
                          </a:solidFill>
                          <a:latin typeface="Open Sans"/>
                        </a:rPr>
                        <a:t>vite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26022"/>
                  </a:ext>
                </a:extLst>
              </a:tr>
            </a:tbl>
          </a:graphicData>
        </a:graphic>
      </p:graphicFrame>
      <p:pic>
        <p:nvPicPr>
          <p:cNvPr id="11" name="Picture 10" descr="A colorful triangle with lightning bolt in the middle&#10;&#10;AI-generated content may be incorrect.">
            <a:extLst>
              <a:ext uri="{FF2B5EF4-FFF2-40B4-BE49-F238E27FC236}">
                <a16:creationId xmlns:a16="http://schemas.microsoft.com/office/drawing/2014/main" id="{C22B837E-7B63-0A4B-2892-B82A3B53C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193" y="227807"/>
            <a:ext cx="552221" cy="619576"/>
          </a:xfrm>
          <a:prstGeom prst="rect">
            <a:avLst/>
          </a:prstGeom>
        </p:spPr>
      </p:pic>
      <p:pic>
        <p:nvPicPr>
          <p:cNvPr id="3" name="Picture 2" descr="Webpack Icon SVG Vector &amp; PNG Free Download | UXWing">
            <a:extLst>
              <a:ext uri="{FF2B5EF4-FFF2-40B4-BE49-F238E27FC236}">
                <a16:creationId xmlns:a16="http://schemas.microsoft.com/office/drawing/2014/main" id="{C63F5A4E-3AAB-26AC-3160-73ADC587A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266" y="228235"/>
            <a:ext cx="615100" cy="614879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5CB21D2-6B12-0777-048C-23D236507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90643"/>
              </p:ext>
            </p:extLst>
          </p:nvPr>
        </p:nvGraphicFramePr>
        <p:xfrm>
          <a:off x="414924" y="908137"/>
          <a:ext cx="397251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2514">
                  <a:extLst>
                    <a:ext uri="{9D8B030D-6E8A-4147-A177-3AD203B41FA5}">
                      <a16:colId xmlns:a16="http://schemas.microsoft.com/office/drawing/2014/main" val="29333447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Open Sans"/>
                        </a:rPr>
                        <a:t>PROD and DEV: Bundling </a:t>
                      </a:r>
                      <a:r>
                        <a:rPr lang="en-US" sz="1000" b="0" i="0" u="none" strike="noStrike" noProof="0" dirty="0" err="1">
                          <a:solidFill>
                            <a:schemeClr val="tx1"/>
                          </a:solidFill>
                          <a:latin typeface="Open Sans"/>
                        </a:rPr>
                        <a:t>clásico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562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latin typeface="Open Sans"/>
                        </a:rPr>
                        <a:t>Muy flexible, </a:t>
                      </a:r>
                      <a:r>
                        <a:rPr lang="en-US" sz="1000" b="0" i="0" u="none" strike="noStrike" noProof="0" dirty="0" err="1">
                          <a:latin typeface="Open Sans"/>
                        </a:rPr>
                        <a:t>altamente</a:t>
                      </a:r>
                      <a:r>
                        <a:rPr lang="en-US" sz="1000" b="0" i="0" u="none" strike="noStrike" noProof="0" dirty="0">
                          <a:latin typeface="Open Sans"/>
                        </a:rPr>
                        <a:t> configurable &gt; poco out of the box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638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latin typeface="Open Sans"/>
                        </a:rPr>
                        <a:t>Loader-based pipeline (JS, CSS, assets, etc.)</a:t>
                      </a:r>
                      <a:endParaRPr lang="en-US" sz="10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996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Realmente</a:t>
                      </a:r>
                      <a:r>
                        <a:rPr lang="en-US" sz="1000" dirty="0"/>
                        <a:t> es un </a:t>
                      </a:r>
                      <a:r>
                        <a:rPr lang="en-US" sz="1000" err="1"/>
                        <a:t>orquestador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0587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2D69AD6-7EB3-E080-D0F0-2ED2466B2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202947"/>
              </p:ext>
            </p:extLst>
          </p:nvPr>
        </p:nvGraphicFramePr>
        <p:xfrm>
          <a:off x="4391937" y="908136"/>
          <a:ext cx="422561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616">
                  <a:extLst>
                    <a:ext uri="{9D8B030D-6E8A-4147-A177-3AD203B41FA5}">
                      <a16:colId xmlns:a16="http://schemas.microsoft.com/office/drawing/2014/main" val="29333447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</a:rPr>
                        <a:t>PROD: 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Open Sans"/>
                        </a:rPr>
                        <a:t>bundle </a:t>
                      </a:r>
                      <a:r>
                        <a:rPr lang="en-US" sz="1000" b="0" i="0" u="none" strike="noStrike" noProof="0" dirty="0" err="1">
                          <a:solidFill>
                            <a:schemeClr val="tx1"/>
                          </a:solidFill>
                          <a:latin typeface="Open Sans"/>
                        </a:rPr>
                        <a:t>tradicional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Open Sans"/>
                        </a:rPr>
                        <a:t>, DEV: no hay bundling (</a:t>
                      </a:r>
                      <a:r>
                        <a:rPr lang="en-US" sz="1000" b="0" i="0" u="none" strike="noStrike" noProof="0" dirty="0" err="1">
                          <a:solidFill>
                            <a:schemeClr val="tx1"/>
                          </a:solidFill>
                          <a:latin typeface="Open Sans"/>
                        </a:rPr>
                        <a:t>delega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Open Sans"/>
                        </a:rPr>
                        <a:t> </a:t>
                      </a:r>
                      <a:r>
                        <a:rPr lang="en-US" sz="1000" b="0" i="0" u="none" strike="noStrike" noProof="0" dirty="0" err="1">
                          <a:solidFill>
                            <a:schemeClr val="tx1"/>
                          </a:solidFill>
                          <a:latin typeface="Open Sans"/>
                        </a:rPr>
                        <a:t>en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Open Sans"/>
                        </a:rPr>
                        <a:t> browser)</a:t>
                      </a:r>
                      <a:endParaRPr lang="en-US" dirty="0" err="1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562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 err="1"/>
                        <a:t>Opinionado</a:t>
                      </a:r>
                      <a:r>
                        <a:rPr lang="en-US" sz="1000" b="0" i="0" u="none" strike="noStrike" noProof="0" dirty="0"/>
                        <a:t>, config </a:t>
                      </a:r>
                      <a:r>
                        <a:rPr lang="en-US" sz="1000" b="0" i="0" u="none" strike="noStrike" noProof="0" dirty="0" err="1"/>
                        <a:t>por</a:t>
                      </a:r>
                      <a:r>
                        <a:rPr lang="en-US" sz="1000" b="0" i="0" u="none" strike="noStrike" noProof="0" dirty="0"/>
                        <a:t> </a:t>
                      </a:r>
                      <a:r>
                        <a:rPr lang="en-US" sz="1000" b="0" i="0" u="none" strike="noStrike" noProof="0" dirty="0" err="1"/>
                        <a:t>defecto</a:t>
                      </a:r>
                      <a:r>
                        <a:rPr lang="en-US" sz="1000" b="0" i="0" u="none" strike="noStrike" noProof="0" dirty="0"/>
                        <a:t> &gt; </a:t>
                      </a:r>
                      <a:r>
                        <a:rPr lang="en-US" sz="1000" b="0" i="0" u="none" strike="noStrike" noProof="0" dirty="0" err="1">
                          <a:latin typeface="Open Sans"/>
                        </a:rPr>
                        <a:t>Funciona</a:t>
                      </a:r>
                      <a:r>
                        <a:rPr lang="en-US" sz="1000" b="0" i="0" u="none" strike="noStrike" noProof="0" dirty="0">
                          <a:latin typeface="Open Sans"/>
                        </a:rPr>
                        <a:t> </a:t>
                      </a:r>
                      <a:r>
                        <a:rPr lang="en-US" sz="1000" b="0" i="0" u="none" strike="noStrike" noProof="0" dirty="0" err="1">
                          <a:latin typeface="Open Sans"/>
                        </a:rPr>
                        <a:t>casi</a:t>
                      </a:r>
                      <a:r>
                        <a:rPr lang="en-US" sz="1000" b="0" i="0" u="none" strike="noStrike" noProof="0" dirty="0">
                          <a:latin typeface="Open Sans"/>
                        </a:rPr>
                        <a:t> sin </a:t>
                      </a:r>
                      <a:r>
                        <a:rPr lang="en-US" sz="1000" b="0" i="0" u="none" strike="noStrike" noProof="0" dirty="0" err="1">
                          <a:latin typeface="Open Sans"/>
                        </a:rPr>
                        <a:t>configuración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638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/>
                        <a:t>Plugin pipeline </a:t>
                      </a:r>
                      <a:r>
                        <a:rPr lang="en-US" sz="1000" b="0" i="0" u="none" strike="noStrike" noProof="0" err="1"/>
                        <a:t>basado</a:t>
                      </a:r>
                      <a:r>
                        <a:rPr lang="en-US" sz="1000" b="0" i="0" u="none" strike="noStrike" noProof="0" dirty="0"/>
                        <a:t> </a:t>
                      </a:r>
                      <a:r>
                        <a:rPr lang="en-US" sz="1000" b="0" i="0" u="none" strike="noStrike" noProof="0" err="1"/>
                        <a:t>en</a:t>
                      </a:r>
                      <a:r>
                        <a:rPr lang="en-US" sz="1000" b="0" i="0" u="none" strike="noStrike" noProof="0" dirty="0"/>
                        <a:t> </a:t>
                      </a:r>
                      <a:r>
                        <a:rPr lang="en-US" sz="1000" b="0" i="0" u="none" strike="noStrike" noProof="0"/>
                        <a:t>Rolldown + </a:t>
                      </a: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latin typeface="Open Sans"/>
                        </a:rPr>
                        <a:t>OXC</a:t>
                      </a:r>
                      <a:endParaRPr lang="en-US" dirty="0" err="1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996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 err="1"/>
                        <a:t>Orquestador</a:t>
                      </a:r>
                      <a:r>
                        <a:rPr lang="en-US" sz="1000" dirty="0"/>
                        <a:t> a medio camino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05873"/>
                  </a:ext>
                </a:extLst>
              </a:tr>
            </a:tbl>
          </a:graphicData>
        </a:graphic>
      </p:graphicFrame>
      <p:pic>
        <p:nvPicPr>
          <p:cNvPr id="22" name="Picture 21" descr="A diagram of a party&#10;&#10;AI-generated content may be incorrect.">
            <a:extLst>
              <a:ext uri="{FF2B5EF4-FFF2-40B4-BE49-F238E27FC236}">
                <a16:creationId xmlns:a16="http://schemas.microsoft.com/office/drawing/2014/main" id="{0FD58B26-2346-A773-B13E-0D6058F2EB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44" t="-79" r="7803" b="347"/>
          <a:stretch>
            <a:fillRect/>
          </a:stretch>
        </p:blipFill>
        <p:spPr>
          <a:xfrm>
            <a:off x="417896" y="2573890"/>
            <a:ext cx="3478252" cy="224082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687547-C638-59FD-65A2-35D14E937883}"/>
              </a:ext>
            </a:extLst>
          </p:cNvPr>
          <p:cNvSpPr txBox="1"/>
          <p:nvPr/>
        </p:nvSpPr>
        <p:spPr>
          <a:xfrm>
            <a:off x="4055949" y="3100165"/>
            <a:ext cx="4840203" cy="14157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 err="1">
                <a:ea typeface="Open Sans"/>
                <a:cs typeface="Open Sans"/>
              </a:rPr>
              <a:t>Estrategia</a:t>
            </a:r>
            <a:r>
              <a:rPr lang="en-US" sz="1400" b="1" dirty="0">
                <a:ea typeface="Open Sans"/>
                <a:cs typeface="Open Sans"/>
              </a:rPr>
              <a:t> de bundling </a:t>
            </a:r>
            <a:r>
              <a:rPr lang="en-US" sz="1400" b="1" err="1">
                <a:ea typeface="Open Sans"/>
                <a:cs typeface="Open Sans"/>
              </a:rPr>
              <a:t>clásico</a:t>
            </a:r>
            <a:r>
              <a:rPr lang="en-US" sz="1400" b="1" dirty="0">
                <a:ea typeface="Open Sans"/>
                <a:cs typeface="Open Sans"/>
              </a:rPr>
              <a:t>: </a:t>
            </a:r>
            <a:endParaRPr lang="en-US" sz="1200" b="1">
              <a:solidFill>
                <a:srgbClr val="FFFFFF"/>
              </a:solidFill>
              <a:ea typeface="Open Sans"/>
              <a:cs typeface="Open Sans"/>
            </a:endParaRPr>
          </a:p>
          <a:p>
            <a:r>
              <a:rPr lang="en-US" sz="1200" b="1" dirty="0">
                <a:solidFill>
                  <a:schemeClr val="accent2"/>
                </a:solidFill>
                <a:ea typeface="Open Sans"/>
                <a:cs typeface="Open Sans"/>
              </a:rPr>
              <a:t>Eagerly crawling → árbol de </a:t>
            </a:r>
            <a:r>
              <a:rPr lang="en-US" sz="1200" b="1" dirty="0" err="1">
                <a:solidFill>
                  <a:schemeClr val="accent2"/>
                </a:solidFill>
                <a:ea typeface="Open Sans"/>
                <a:cs typeface="Open Sans"/>
              </a:rPr>
              <a:t>dependencias</a:t>
            </a:r>
            <a:r>
              <a:rPr lang="en-US" sz="1200" b="1" dirty="0">
                <a:solidFill>
                  <a:schemeClr val="accent2"/>
                </a:solidFill>
                <a:ea typeface="Open Sans"/>
                <a:cs typeface="Open Sans"/>
              </a:rPr>
              <a:t> → bundle → ready</a:t>
            </a:r>
            <a:br>
              <a:rPr lang="en-US" sz="1200" b="1" dirty="0">
                <a:solidFill>
                  <a:schemeClr val="accent2"/>
                </a:solidFill>
                <a:ea typeface="Open Sans"/>
                <a:cs typeface="Open Sans"/>
              </a:rPr>
            </a:br>
            <a:br>
              <a:rPr lang="en-US" sz="1200" b="1" dirty="0">
                <a:ea typeface="Open Sans"/>
                <a:cs typeface="Open Sans"/>
              </a:rPr>
            </a:br>
            <a:r>
              <a:rPr lang="en-US" sz="1200" dirty="0">
                <a:ea typeface="Open Sans"/>
                <a:cs typeface="Open Sans"/>
              </a:rPr>
              <a:t>- </a:t>
            </a:r>
            <a:r>
              <a:rPr lang="en-US" sz="1200" dirty="0" err="1">
                <a:ea typeface="Open Sans"/>
                <a:cs typeface="Open Sans"/>
              </a:rPr>
              <a:t>Dependencia</a:t>
            </a:r>
            <a:r>
              <a:rPr lang="en-US" sz="1200" dirty="0">
                <a:ea typeface="Open Sans"/>
                <a:cs typeface="Open Sans"/>
              </a:rPr>
              <a:t> de la </a:t>
            </a:r>
            <a:r>
              <a:rPr lang="en-US" sz="1200" dirty="0" err="1">
                <a:ea typeface="Open Sans"/>
                <a:cs typeface="Open Sans"/>
              </a:rPr>
              <a:t>creación</a:t>
            </a:r>
            <a:r>
              <a:rPr lang="en-US" sz="1200" dirty="0">
                <a:ea typeface="Open Sans"/>
                <a:cs typeface="Open Sans"/>
              </a:rPr>
              <a:t> del bundle para </a:t>
            </a:r>
            <a:r>
              <a:rPr lang="en-US" sz="1200" dirty="0" err="1">
                <a:ea typeface="Open Sans"/>
                <a:cs typeface="Open Sans"/>
              </a:rPr>
              <a:t>levantar</a:t>
            </a:r>
            <a:r>
              <a:rPr lang="en-US" sz="1200" dirty="0">
                <a:ea typeface="Open Sans"/>
                <a:cs typeface="Open Sans"/>
              </a:rPr>
              <a:t> la app.</a:t>
            </a:r>
            <a:br>
              <a:rPr lang="en-US" dirty="0"/>
            </a:br>
            <a:r>
              <a:rPr lang="en-US" sz="1200" dirty="0">
                <a:ea typeface="Open Sans"/>
                <a:cs typeface="Open Sans"/>
              </a:rPr>
              <a:t>- HMR para </a:t>
            </a:r>
            <a:r>
              <a:rPr lang="en-US" sz="1200" dirty="0" err="1">
                <a:ea typeface="Open Sans"/>
                <a:cs typeface="Open Sans"/>
              </a:rPr>
              <a:t>recargar</a:t>
            </a:r>
            <a:r>
              <a:rPr lang="en-US" sz="1200" dirty="0">
                <a:ea typeface="Open Sans"/>
                <a:cs typeface="Open Sans"/>
              </a:rPr>
              <a:t> </a:t>
            </a:r>
            <a:r>
              <a:rPr lang="en-US" sz="1200" dirty="0" err="1">
                <a:ea typeface="Open Sans"/>
                <a:cs typeface="Open Sans"/>
              </a:rPr>
              <a:t>los</a:t>
            </a:r>
            <a:r>
              <a:rPr lang="en-US" sz="1200" dirty="0">
                <a:ea typeface="Open Sans"/>
                <a:cs typeface="Open Sans"/>
              </a:rPr>
              <a:t> </a:t>
            </a:r>
            <a:r>
              <a:rPr lang="en-US" sz="1200" dirty="0" err="1">
                <a:ea typeface="Open Sans"/>
                <a:cs typeface="Open Sans"/>
              </a:rPr>
              <a:t>módulos</a:t>
            </a:r>
            <a:r>
              <a:rPr lang="en-US" sz="1200" dirty="0">
                <a:ea typeface="Open Sans"/>
                <a:cs typeface="Open Sans"/>
              </a:rPr>
              <a:t> </a:t>
            </a:r>
            <a:r>
              <a:rPr lang="en-US" sz="1200" dirty="0" err="1">
                <a:ea typeface="Open Sans"/>
                <a:cs typeface="Open Sans"/>
              </a:rPr>
              <a:t>que</a:t>
            </a:r>
            <a:r>
              <a:rPr lang="en-US" sz="1200" dirty="0">
                <a:ea typeface="Open Sans"/>
                <a:cs typeface="Open Sans"/>
              </a:rPr>
              <a:t> </a:t>
            </a:r>
            <a:r>
              <a:rPr lang="en-US" sz="1200" dirty="0" err="1">
                <a:ea typeface="Open Sans"/>
                <a:cs typeface="Open Sans"/>
              </a:rPr>
              <a:t>sufren</a:t>
            </a:r>
            <a:r>
              <a:rPr lang="en-US" sz="1200" dirty="0">
                <a:ea typeface="Open Sans"/>
                <a:cs typeface="Open Sans"/>
              </a:rPr>
              <a:t> </a:t>
            </a:r>
            <a:r>
              <a:rPr lang="en-US" sz="1200" dirty="0" err="1">
                <a:ea typeface="Open Sans"/>
                <a:cs typeface="Open Sans"/>
              </a:rPr>
              <a:t>cambios</a:t>
            </a:r>
            <a:r>
              <a:rPr lang="en-US" sz="1200" dirty="0">
                <a:ea typeface="Open Sans"/>
                <a:cs typeface="Open Sans"/>
              </a:rPr>
              <a:t>.</a:t>
            </a:r>
          </a:p>
          <a:p>
            <a:endParaRPr lang="en-US" sz="1200" dirty="0">
              <a:ea typeface="Open Sans"/>
              <a:cs typeface="Open Sans"/>
            </a:endParaRPr>
          </a:p>
          <a:p>
            <a:endParaRPr lang="en-US" sz="1200" dirty="0"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611456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47699" y="-1627"/>
            <a:ext cx="8245476" cy="810657"/>
          </a:xfrm>
        </p:spPr>
        <p:txBody>
          <a:bodyPr lIns="0" anchor="b"/>
          <a:lstStyle/>
          <a:p>
            <a:r>
              <a:rPr lang="es-ES_tradnl" sz="4000" spc="-300" dirty="0" err="1">
                <a:solidFill>
                  <a:srgbClr val="242415"/>
                </a:solidFill>
                <a:latin typeface="Montserrat SemiBold"/>
              </a:rPr>
              <a:t>Webpack</a:t>
            </a:r>
            <a:r>
              <a:rPr lang="es-ES_tradnl" sz="4000" spc="-300" dirty="0">
                <a:solidFill>
                  <a:srgbClr val="242415"/>
                </a:solidFill>
                <a:latin typeface="Montserrat SemiBold"/>
              </a:rPr>
              <a:t> – flujo y elementos</a:t>
            </a:r>
            <a:endParaRPr lang="en-US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500B578-A172-4123-A9F9-10474B82C587}"/>
              </a:ext>
            </a:extLst>
          </p:cNvPr>
          <p:cNvSpPr/>
          <p:nvPr/>
        </p:nvSpPr>
        <p:spPr>
          <a:xfrm>
            <a:off x="0" y="0"/>
            <a:ext cx="254000" cy="5143500"/>
          </a:xfrm>
          <a:prstGeom prst="rect">
            <a:avLst/>
          </a:prstGeom>
          <a:solidFill>
            <a:srgbClr val="D8D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_tradnl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4ADC23A-AF6B-6D4B-A942-BA28617DB5BF}"/>
              </a:ext>
            </a:extLst>
          </p:cNvPr>
          <p:cNvSpPr/>
          <p:nvPr/>
        </p:nvSpPr>
        <p:spPr>
          <a:xfrm>
            <a:off x="665822" y="1580649"/>
            <a:ext cx="585929" cy="461638"/>
          </a:xfrm>
          <a:prstGeom prst="roundRect">
            <a:avLst/>
          </a:prstGeom>
          <a:noFill/>
          <a:ln>
            <a:solidFill>
              <a:srgbClr val="494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1200">
                <a:solidFill>
                  <a:srgbClr val="494738"/>
                </a:solidFill>
              </a:rPr>
              <a:t>.ts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372CD6-F211-6F46-9487-AEF6FF40D465}"/>
              </a:ext>
            </a:extLst>
          </p:cNvPr>
          <p:cNvSpPr/>
          <p:nvPr/>
        </p:nvSpPr>
        <p:spPr>
          <a:xfrm>
            <a:off x="665824" y="2372708"/>
            <a:ext cx="585927" cy="461638"/>
          </a:xfrm>
          <a:prstGeom prst="roundRect">
            <a:avLst/>
          </a:prstGeom>
          <a:noFill/>
          <a:ln>
            <a:solidFill>
              <a:srgbClr val="494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1200">
                <a:solidFill>
                  <a:srgbClr val="494738"/>
                </a:solidFill>
              </a:rPr>
              <a:t>.ts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C4FA7BB-B675-764F-A579-B4FB0364FF9D}"/>
              </a:ext>
            </a:extLst>
          </p:cNvPr>
          <p:cNvSpPr/>
          <p:nvPr/>
        </p:nvSpPr>
        <p:spPr>
          <a:xfrm>
            <a:off x="701335" y="3368487"/>
            <a:ext cx="523780" cy="461638"/>
          </a:xfrm>
          <a:prstGeom prst="roundRect">
            <a:avLst/>
          </a:prstGeom>
          <a:noFill/>
          <a:ln>
            <a:solidFill>
              <a:srgbClr val="494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1000">
                <a:solidFill>
                  <a:srgbClr val="494738"/>
                </a:solidFill>
              </a:rPr>
              <a:t>.sass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286A331-D5E1-444F-9096-E2F1E83BE17B}"/>
              </a:ext>
            </a:extLst>
          </p:cNvPr>
          <p:cNvSpPr/>
          <p:nvPr/>
        </p:nvSpPr>
        <p:spPr>
          <a:xfrm>
            <a:off x="1494892" y="1580649"/>
            <a:ext cx="585929" cy="461638"/>
          </a:xfrm>
          <a:prstGeom prst="roundRect">
            <a:avLst/>
          </a:prstGeom>
          <a:noFill/>
          <a:ln>
            <a:solidFill>
              <a:srgbClr val="494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1200">
                <a:solidFill>
                  <a:srgbClr val="494738"/>
                </a:solidFill>
              </a:rPr>
              <a:t>.ts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BCD5B06-A2EA-3543-B554-3E4A7159B826}"/>
              </a:ext>
            </a:extLst>
          </p:cNvPr>
          <p:cNvSpPr/>
          <p:nvPr/>
        </p:nvSpPr>
        <p:spPr>
          <a:xfrm>
            <a:off x="1441638" y="3170222"/>
            <a:ext cx="683568" cy="461638"/>
          </a:xfrm>
          <a:prstGeom prst="roundRect">
            <a:avLst/>
          </a:prstGeom>
          <a:noFill/>
          <a:ln>
            <a:solidFill>
              <a:srgbClr val="4947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1200">
                <a:solidFill>
                  <a:srgbClr val="494738"/>
                </a:solidFill>
              </a:rPr>
              <a:t>.png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5421414-AC4E-7D43-A057-A1E20ED1DFF4}"/>
              </a:ext>
            </a:extLst>
          </p:cNvPr>
          <p:cNvSpPr/>
          <p:nvPr/>
        </p:nvSpPr>
        <p:spPr>
          <a:xfrm>
            <a:off x="1494891" y="2370778"/>
            <a:ext cx="585925" cy="461638"/>
          </a:xfrm>
          <a:prstGeom prst="roundRect">
            <a:avLst/>
          </a:prstGeom>
          <a:noFill/>
          <a:ln w="38100">
            <a:solidFill>
              <a:srgbClr val="FF3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1200">
                <a:solidFill>
                  <a:srgbClr val="494738"/>
                </a:solidFill>
              </a:rPr>
              <a:t>.ts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F6FFF98-BB28-C34D-8718-459CD5A927A2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958787" y="2042287"/>
            <a:ext cx="1" cy="330421"/>
          </a:xfrm>
          <a:prstGeom prst="straightConnector1">
            <a:avLst/>
          </a:prstGeom>
          <a:ln>
            <a:solidFill>
              <a:srgbClr val="4947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05E031-3E75-B84E-9C87-D6413B259859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1251751" y="2601597"/>
            <a:ext cx="243140" cy="1930"/>
          </a:xfrm>
          <a:prstGeom prst="straightConnector1">
            <a:avLst/>
          </a:prstGeom>
          <a:ln>
            <a:solidFill>
              <a:srgbClr val="4947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22AA28-A69B-8545-8E8C-8B556B192162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1787854" y="2042287"/>
            <a:ext cx="3" cy="328491"/>
          </a:xfrm>
          <a:prstGeom prst="straightConnector1">
            <a:avLst/>
          </a:prstGeom>
          <a:ln>
            <a:solidFill>
              <a:srgbClr val="4947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C88E3F7-2B38-F743-B03D-BA0100D35FB8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 rot="5400000">
            <a:off x="1616735" y="2999103"/>
            <a:ext cx="337806" cy="4432"/>
          </a:xfrm>
          <a:prstGeom prst="bentConnector3">
            <a:avLst>
              <a:gd name="adj1" fmla="val 50000"/>
            </a:avLst>
          </a:prstGeom>
          <a:ln>
            <a:solidFill>
              <a:srgbClr val="4947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FC46ED-C198-9A49-983E-9A0503B682C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958788" y="2834346"/>
            <a:ext cx="4437" cy="534141"/>
          </a:xfrm>
          <a:prstGeom prst="straightConnector1">
            <a:avLst/>
          </a:prstGeom>
          <a:ln>
            <a:solidFill>
              <a:srgbClr val="4947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24D20265-257F-7948-95B6-DD5422CD54F7}"/>
              </a:ext>
            </a:extLst>
          </p:cNvPr>
          <p:cNvSpPr/>
          <p:nvPr/>
        </p:nvSpPr>
        <p:spPr>
          <a:xfrm>
            <a:off x="2286449" y="2463993"/>
            <a:ext cx="284085" cy="275208"/>
          </a:xfrm>
          <a:prstGeom prst="ellipse">
            <a:avLst/>
          </a:prstGeom>
          <a:solidFill>
            <a:srgbClr val="FF3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719B983-7635-8B4B-A3E7-2202006F21EE}"/>
              </a:ext>
            </a:extLst>
          </p:cNvPr>
          <p:cNvSpPr/>
          <p:nvPr/>
        </p:nvSpPr>
        <p:spPr>
          <a:xfrm>
            <a:off x="2858607" y="1367161"/>
            <a:ext cx="1402675" cy="301841"/>
          </a:xfrm>
          <a:prstGeom prst="roundRect">
            <a:avLst/>
          </a:prstGeom>
          <a:solidFill>
            <a:srgbClr val="65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/>
              <a:t>L</a:t>
            </a:r>
            <a:r>
              <a:rPr lang="en-ES" sz="1600"/>
              <a:t>oader ts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4593349A-18A3-174C-9A6A-35FA960F396C}"/>
              </a:ext>
            </a:extLst>
          </p:cNvPr>
          <p:cNvSpPr/>
          <p:nvPr/>
        </p:nvSpPr>
        <p:spPr>
          <a:xfrm>
            <a:off x="2858607" y="1872450"/>
            <a:ext cx="1402675" cy="301841"/>
          </a:xfrm>
          <a:prstGeom prst="roundRect">
            <a:avLst/>
          </a:prstGeom>
          <a:solidFill>
            <a:srgbClr val="65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/>
              <a:t>L</a:t>
            </a:r>
            <a:r>
              <a:rPr lang="en-ES" sz="1600"/>
              <a:t>oader css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B2DEEE48-AF0C-6C4B-B6D4-367641D86F3E}"/>
              </a:ext>
            </a:extLst>
          </p:cNvPr>
          <p:cNvSpPr/>
          <p:nvPr/>
        </p:nvSpPr>
        <p:spPr>
          <a:xfrm>
            <a:off x="2858608" y="2451118"/>
            <a:ext cx="1395782" cy="301841"/>
          </a:xfrm>
          <a:prstGeom prst="roundRect">
            <a:avLst/>
          </a:prstGeom>
          <a:solidFill>
            <a:srgbClr val="65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/>
              <a:t>L</a:t>
            </a:r>
            <a:r>
              <a:rPr lang="en-ES" sz="1600"/>
              <a:t>oader png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283DDC37-2218-6A4F-858E-972460B1AAD7}"/>
              </a:ext>
            </a:extLst>
          </p:cNvPr>
          <p:cNvSpPr/>
          <p:nvPr/>
        </p:nvSpPr>
        <p:spPr>
          <a:xfrm>
            <a:off x="2865501" y="3037057"/>
            <a:ext cx="1395781" cy="301841"/>
          </a:xfrm>
          <a:prstGeom prst="roundRect">
            <a:avLst/>
          </a:prstGeom>
          <a:solidFill>
            <a:srgbClr val="65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ES" sz="1600"/>
              <a:t>(…)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3782273-A68C-0B45-9674-9C64E7AC777A}"/>
              </a:ext>
            </a:extLst>
          </p:cNvPr>
          <p:cNvSpPr/>
          <p:nvPr/>
        </p:nvSpPr>
        <p:spPr>
          <a:xfrm>
            <a:off x="2858606" y="3608183"/>
            <a:ext cx="1395781" cy="301841"/>
          </a:xfrm>
          <a:prstGeom prst="roundRect">
            <a:avLst/>
          </a:prstGeom>
          <a:solidFill>
            <a:srgbClr val="65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1600"/>
              <a:t>Loader sass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2EF704C4-8268-2F43-92D1-BAD2A44DA282}"/>
              </a:ext>
            </a:extLst>
          </p:cNvPr>
          <p:cNvSpPr/>
          <p:nvPr/>
        </p:nvSpPr>
        <p:spPr>
          <a:xfrm>
            <a:off x="4777662" y="1367160"/>
            <a:ext cx="1472213" cy="2542863"/>
          </a:xfrm>
          <a:prstGeom prst="roundRect">
            <a:avLst/>
          </a:prstGeom>
          <a:solidFill>
            <a:srgbClr val="95B1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/>
              <a:t>plugins</a:t>
            </a:r>
          </a:p>
        </p:txBody>
      </p:sp>
      <p:sp>
        <p:nvSpPr>
          <p:cNvPr id="54" name="Right Arrow 53">
            <a:extLst>
              <a:ext uri="{FF2B5EF4-FFF2-40B4-BE49-F238E27FC236}">
                <a16:creationId xmlns:a16="http://schemas.microsoft.com/office/drawing/2014/main" id="{1109B81D-53A8-7E44-949A-9AE3DB47B38B}"/>
              </a:ext>
            </a:extLst>
          </p:cNvPr>
          <p:cNvSpPr/>
          <p:nvPr/>
        </p:nvSpPr>
        <p:spPr>
          <a:xfrm>
            <a:off x="6356409" y="2517256"/>
            <a:ext cx="532660" cy="253454"/>
          </a:xfrm>
          <a:prstGeom prst="rightArrow">
            <a:avLst/>
          </a:prstGeom>
          <a:solidFill>
            <a:srgbClr val="FF3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ES">
              <a:solidFill>
                <a:schemeClr val="lt1"/>
              </a:solidFill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D0E3F11B-4217-9B43-AB93-850A3C096335}"/>
              </a:ext>
            </a:extLst>
          </p:cNvPr>
          <p:cNvSpPr/>
          <p:nvPr/>
        </p:nvSpPr>
        <p:spPr>
          <a:xfrm>
            <a:off x="6949247" y="1811468"/>
            <a:ext cx="585929" cy="461638"/>
          </a:xfrm>
          <a:prstGeom prst="roundRect">
            <a:avLst/>
          </a:prstGeom>
          <a:solidFill>
            <a:srgbClr val="00A343"/>
          </a:solidFill>
          <a:ln>
            <a:solidFill>
              <a:srgbClr val="00A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1200">
                <a:solidFill>
                  <a:schemeClr val="bg1"/>
                </a:solidFill>
              </a:rPr>
              <a:t>.js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3FD89EEC-4625-8B44-9668-5181C1D76EDC}"/>
              </a:ext>
            </a:extLst>
          </p:cNvPr>
          <p:cNvSpPr/>
          <p:nvPr/>
        </p:nvSpPr>
        <p:spPr>
          <a:xfrm>
            <a:off x="7829616" y="1811468"/>
            <a:ext cx="585929" cy="461638"/>
          </a:xfrm>
          <a:prstGeom prst="roundRect">
            <a:avLst/>
          </a:prstGeom>
          <a:solidFill>
            <a:srgbClr val="00A343"/>
          </a:solidFill>
          <a:ln>
            <a:solidFill>
              <a:srgbClr val="00A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1200">
                <a:solidFill>
                  <a:schemeClr val="bg1"/>
                </a:solidFill>
              </a:rPr>
              <a:t>.css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9E35DBD0-F2FF-DF45-95EA-48DF9AA9ABA5}"/>
              </a:ext>
            </a:extLst>
          </p:cNvPr>
          <p:cNvSpPr/>
          <p:nvPr/>
        </p:nvSpPr>
        <p:spPr>
          <a:xfrm>
            <a:off x="6956141" y="2939403"/>
            <a:ext cx="585929" cy="461638"/>
          </a:xfrm>
          <a:prstGeom prst="roundRect">
            <a:avLst/>
          </a:prstGeom>
          <a:solidFill>
            <a:srgbClr val="00A343"/>
          </a:solidFill>
          <a:ln>
            <a:solidFill>
              <a:srgbClr val="00A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1200">
                <a:solidFill>
                  <a:schemeClr val="bg1"/>
                </a:solidFill>
              </a:rPr>
              <a:t>.jpg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41773661-EB21-4E4A-ABDB-47AF04C315EF}"/>
              </a:ext>
            </a:extLst>
          </p:cNvPr>
          <p:cNvSpPr/>
          <p:nvPr/>
        </p:nvSpPr>
        <p:spPr>
          <a:xfrm>
            <a:off x="7829616" y="2939403"/>
            <a:ext cx="585929" cy="461638"/>
          </a:xfrm>
          <a:prstGeom prst="roundRect">
            <a:avLst/>
          </a:prstGeom>
          <a:solidFill>
            <a:srgbClr val="00A343"/>
          </a:solidFill>
          <a:ln>
            <a:solidFill>
              <a:srgbClr val="00A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1200">
                <a:solidFill>
                  <a:schemeClr val="bg1"/>
                </a:solidFill>
              </a:rPr>
              <a:t>.png</a:t>
            </a:r>
          </a:p>
        </p:txBody>
      </p:sp>
      <p:cxnSp>
        <p:nvCxnSpPr>
          <p:cNvPr id="60" name="Curved Connector 59">
            <a:extLst>
              <a:ext uri="{FF2B5EF4-FFF2-40B4-BE49-F238E27FC236}">
                <a16:creationId xmlns:a16="http://schemas.microsoft.com/office/drawing/2014/main" id="{16B8BC6E-026F-F248-BE20-07CF893BA9DE}"/>
              </a:ext>
            </a:extLst>
          </p:cNvPr>
          <p:cNvCxnSpPr>
            <a:cxnSpLocks/>
            <a:stCxn id="47" idx="6"/>
            <a:endCxn id="48" idx="1"/>
          </p:cNvCxnSpPr>
          <p:nvPr/>
        </p:nvCxnSpPr>
        <p:spPr>
          <a:xfrm flipV="1">
            <a:off x="2570534" y="1518082"/>
            <a:ext cx="288073" cy="1083515"/>
          </a:xfrm>
          <a:prstGeom prst="curvedConnector3">
            <a:avLst/>
          </a:prstGeom>
          <a:ln>
            <a:solidFill>
              <a:srgbClr val="4947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BF160C1D-A3BE-0843-862F-2380BD7B879C}"/>
              </a:ext>
            </a:extLst>
          </p:cNvPr>
          <p:cNvCxnSpPr>
            <a:cxnSpLocks/>
            <a:stCxn id="47" idx="6"/>
            <a:endCxn id="49" idx="1"/>
          </p:cNvCxnSpPr>
          <p:nvPr/>
        </p:nvCxnSpPr>
        <p:spPr>
          <a:xfrm flipV="1">
            <a:off x="2570534" y="2023371"/>
            <a:ext cx="288073" cy="578226"/>
          </a:xfrm>
          <a:prstGeom prst="curvedConnector3">
            <a:avLst>
              <a:gd name="adj1" fmla="val 50000"/>
            </a:avLst>
          </a:prstGeom>
          <a:ln>
            <a:solidFill>
              <a:srgbClr val="4947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>
            <a:extLst>
              <a:ext uri="{FF2B5EF4-FFF2-40B4-BE49-F238E27FC236}">
                <a16:creationId xmlns:a16="http://schemas.microsoft.com/office/drawing/2014/main" id="{02814622-D45B-9C48-BE2C-2BCAC70EAB51}"/>
              </a:ext>
            </a:extLst>
          </p:cNvPr>
          <p:cNvCxnSpPr>
            <a:cxnSpLocks/>
            <a:stCxn id="47" idx="6"/>
            <a:endCxn id="50" idx="1"/>
          </p:cNvCxnSpPr>
          <p:nvPr/>
        </p:nvCxnSpPr>
        <p:spPr>
          <a:xfrm>
            <a:off x="2570534" y="2601597"/>
            <a:ext cx="288074" cy="442"/>
          </a:xfrm>
          <a:prstGeom prst="curvedConnector3">
            <a:avLst>
              <a:gd name="adj1" fmla="val 50000"/>
            </a:avLst>
          </a:prstGeom>
          <a:ln>
            <a:solidFill>
              <a:srgbClr val="4947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B54B7C7A-ABD3-0D4F-9267-17E83C859861}"/>
              </a:ext>
            </a:extLst>
          </p:cNvPr>
          <p:cNvCxnSpPr>
            <a:cxnSpLocks/>
            <a:stCxn id="47" idx="6"/>
            <a:endCxn id="51" idx="1"/>
          </p:cNvCxnSpPr>
          <p:nvPr/>
        </p:nvCxnSpPr>
        <p:spPr>
          <a:xfrm>
            <a:off x="2570534" y="2601597"/>
            <a:ext cx="294967" cy="586381"/>
          </a:xfrm>
          <a:prstGeom prst="curvedConnector3">
            <a:avLst>
              <a:gd name="adj1" fmla="val 50000"/>
            </a:avLst>
          </a:prstGeom>
          <a:ln>
            <a:solidFill>
              <a:srgbClr val="4947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urved Connector 69">
            <a:extLst>
              <a:ext uri="{FF2B5EF4-FFF2-40B4-BE49-F238E27FC236}">
                <a16:creationId xmlns:a16="http://schemas.microsoft.com/office/drawing/2014/main" id="{F5E322A1-463D-204E-92D2-50D1CB6FD40B}"/>
              </a:ext>
            </a:extLst>
          </p:cNvPr>
          <p:cNvCxnSpPr>
            <a:cxnSpLocks/>
            <a:stCxn id="47" idx="6"/>
            <a:endCxn id="52" idx="1"/>
          </p:cNvCxnSpPr>
          <p:nvPr/>
        </p:nvCxnSpPr>
        <p:spPr>
          <a:xfrm>
            <a:off x="2570534" y="2601597"/>
            <a:ext cx="288072" cy="1157507"/>
          </a:xfrm>
          <a:prstGeom prst="curvedConnector3">
            <a:avLst>
              <a:gd name="adj1" fmla="val 50000"/>
            </a:avLst>
          </a:prstGeom>
          <a:ln>
            <a:solidFill>
              <a:srgbClr val="4947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urved Connector 72">
            <a:extLst>
              <a:ext uri="{FF2B5EF4-FFF2-40B4-BE49-F238E27FC236}">
                <a16:creationId xmlns:a16="http://schemas.microsoft.com/office/drawing/2014/main" id="{04ECCF49-B68A-0941-82C0-338D37AA1075}"/>
              </a:ext>
            </a:extLst>
          </p:cNvPr>
          <p:cNvCxnSpPr>
            <a:cxnSpLocks/>
            <a:stCxn id="48" idx="3"/>
            <a:endCxn id="53" idx="1"/>
          </p:cNvCxnSpPr>
          <p:nvPr/>
        </p:nvCxnSpPr>
        <p:spPr>
          <a:xfrm>
            <a:off x="4261282" y="1518082"/>
            <a:ext cx="516380" cy="1120510"/>
          </a:xfrm>
          <a:prstGeom prst="curvedConnector3">
            <a:avLst>
              <a:gd name="adj1" fmla="val 50000"/>
            </a:avLst>
          </a:prstGeom>
          <a:ln>
            <a:solidFill>
              <a:srgbClr val="494738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75">
            <a:extLst>
              <a:ext uri="{FF2B5EF4-FFF2-40B4-BE49-F238E27FC236}">
                <a16:creationId xmlns:a16="http://schemas.microsoft.com/office/drawing/2014/main" id="{E4AAE7C6-7864-A24C-BBBB-A766CBD77BE0}"/>
              </a:ext>
            </a:extLst>
          </p:cNvPr>
          <p:cNvCxnSpPr>
            <a:cxnSpLocks/>
            <a:stCxn id="49" idx="3"/>
            <a:endCxn id="53" idx="1"/>
          </p:cNvCxnSpPr>
          <p:nvPr/>
        </p:nvCxnSpPr>
        <p:spPr>
          <a:xfrm>
            <a:off x="4261282" y="2023371"/>
            <a:ext cx="516380" cy="615221"/>
          </a:xfrm>
          <a:prstGeom prst="curvedConnector3">
            <a:avLst>
              <a:gd name="adj1" fmla="val 50000"/>
            </a:avLst>
          </a:prstGeom>
          <a:ln>
            <a:solidFill>
              <a:srgbClr val="494738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urved Connector 78">
            <a:extLst>
              <a:ext uri="{FF2B5EF4-FFF2-40B4-BE49-F238E27FC236}">
                <a16:creationId xmlns:a16="http://schemas.microsoft.com/office/drawing/2014/main" id="{510C5F4F-1937-A743-9B11-AA569E9E9986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>
            <a:off x="4254390" y="2602039"/>
            <a:ext cx="523272" cy="36553"/>
          </a:xfrm>
          <a:prstGeom prst="curvedConnector3">
            <a:avLst>
              <a:gd name="adj1" fmla="val 50000"/>
            </a:avLst>
          </a:prstGeom>
          <a:ln>
            <a:solidFill>
              <a:srgbClr val="494738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urved Connector 81">
            <a:extLst>
              <a:ext uri="{FF2B5EF4-FFF2-40B4-BE49-F238E27FC236}">
                <a16:creationId xmlns:a16="http://schemas.microsoft.com/office/drawing/2014/main" id="{86D8C3AB-3A4A-6F41-843C-5567C9807D36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 flipV="1">
            <a:off x="4261282" y="2638592"/>
            <a:ext cx="516380" cy="549386"/>
          </a:xfrm>
          <a:prstGeom prst="curvedConnector3">
            <a:avLst>
              <a:gd name="adj1" fmla="val 50000"/>
            </a:avLst>
          </a:prstGeom>
          <a:ln>
            <a:solidFill>
              <a:srgbClr val="494738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urved Connector 84">
            <a:extLst>
              <a:ext uri="{FF2B5EF4-FFF2-40B4-BE49-F238E27FC236}">
                <a16:creationId xmlns:a16="http://schemas.microsoft.com/office/drawing/2014/main" id="{32688D07-21ED-F14E-A479-165FB41C2C82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 flipV="1">
            <a:off x="4254387" y="2638592"/>
            <a:ext cx="523275" cy="1120512"/>
          </a:xfrm>
          <a:prstGeom prst="curvedConnector3">
            <a:avLst>
              <a:gd name="adj1" fmla="val 50000"/>
            </a:avLst>
          </a:prstGeom>
          <a:ln>
            <a:solidFill>
              <a:srgbClr val="494738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FEC6953-8A37-C34E-91CC-1AF3B9A032DC}"/>
              </a:ext>
            </a:extLst>
          </p:cNvPr>
          <p:cNvCxnSpPr>
            <a:cxnSpLocks/>
            <a:stCxn id="10" idx="3"/>
            <a:endCxn id="47" idx="2"/>
          </p:cNvCxnSpPr>
          <p:nvPr/>
        </p:nvCxnSpPr>
        <p:spPr>
          <a:xfrm>
            <a:off x="2080816" y="2601597"/>
            <a:ext cx="205633" cy="0"/>
          </a:xfrm>
          <a:prstGeom prst="straightConnector1">
            <a:avLst/>
          </a:prstGeom>
          <a:ln>
            <a:solidFill>
              <a:srgbClr val="FF3A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A162DE0-5083-AA43-B59A-C98B162EE5E2}"/>
              </a:ext>
            </a:extLst>
          </p:cNvPr>
          <p:cNvSpPr txBox="1"/>
          <p:nvPr/>
        </p:nvSpPr>
        <p:spPr>
          <a:xfrm>
            <a:off x="300393" y="894919"/>
            <a:ext cx="2091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/>
              <a:t>C</a:t>
            </a:r>
            <a:r>
              <a:rPr lang="en-ES" sz="1200" b="1"/>
              <a:t>ódigo fuente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41AC540-5BC1-A545-8030-6F20001DE786}"/>
              </a:ext>
            </a:extLst>
          </p:cNvPr>
          <p:cNvSpPr txBox="1"/>
          <p:nvPr/>
        </p:nvSpPr>
        <p:spPr>
          <a:xfrm>
            <a:off x="2865501" y="887519"/>
            <a:ext cx="1388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err="1"/>
              <a:t>Loaders</a:t>
            </a:r>
            <a:endParaRPr lang="en-ES" sz="1200" b="1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62A2917-29CB-C946-B4B8-78223069BA22}"/>
              </a:ext>
            </a:extLst>
          </p:cNvPr>
          <p:cNvSpPr txBox="1"/>
          <p:nvPr/>
        </p:nvSpPr>
        <p:spPr>
          <a:xfrm>
            <a:off x="4697763" y="899506"/>
            <a:ext cx="1472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err="1"/>
              <a:t>Plugins</a:t>
            </a:r>
            <a:endParaRPr lang="en-ES" sz="1200" b="1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7639805-E8EA-8E4F-818B-F605460FD5DB}"/>
              </a:ext>
            </a:extLst>
          </p:cNvPr>
          <p:cNvSpPr txBox="1"/>
          <p:nvPr/>
        </p:nvSpPr>
        <p:spPr>
          <a:xfrm>
            <a:off x="6788903" y="903837"/>
            <a:ext cx="1567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err="1"/>
              <a:t>Bundles</a:t>
            </a:r>
            <a:endParaRPr lang="en-ES" sz="1200" b="1"/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BC601946-ACD0-0D46-9F71-39C652AD200E}"/>
              </a:ext>
            </a:extLst>
          </p:cNvPr>
          <p:cNvSpPr/>
          <p:nvPr/>
        </p:nvSpPr>
        <p:spPr>
          <a:xfrm>
            <a:off x="647700" y="4084197"/>
            <a:ext cx="1638750" cy="919454"/>
          </a:xfrm>
          <a:prstGeom prst="roundRect">
            <a:avLst/>
          </a:prstGeom>
          <a:solidFill>
            <a:srgbClr val="F7F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ES" sz="1100">
                <a:solidFill>
                  <a:srgbClr val="494738"/>
                </a:solidFill>
              </a:rPr>
              <a:t>Tenemos una base de código y un punto de entrada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22B407EB-4FC8-204F-820E-DFAB06A72150}"/>
              </a:ext>
            </a:extLst>
          </p:cNvPr>
          <p:cNvSpPr/>
          <p:nvPr/>
        </p:nvSpPr>
        <p:spPr>
          <a:xfrm>
            <a:off x="2427044" y="4069836"/>
            <a:ext cx="2306230" cy="919454"/>
          </a:xfrm>
          <a:prstGeom prst="roundRect">
            <a:avLst/>
          </a:prstGeom>
          <a:solidFill>
            <a:srgbClr val="F7F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ES" sz="1100">
                <a:solidFill>
                  <a:srgbClr val="494738"/>
                </a:solidFill>
              </a:rPr>
              <a:t>Los loaders reciben un fichero de entrada y genera uno de salida (e.g transpilar ficheros)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23AF8ABB-C438-9644-A2A3-A2FDA0CC7F81}"/>
              </a:ext>
            </a:extLst>
          </p:cNvPr>
          <p:cNvSpPr/>
          <p:nvPr/>
        </p:nvSpPr>
        <p:spPr>
          <a:xfrm>
            <a:off x="4796893" y="4067338"/>
            <a:ext cx="1472213" cy="919454"/>
          </a:xfrm>
          <a:prstGeom prst="roundRect">
            <a:avLst/>
          </a:prstGeom>
          <a:solidFill>
            <a:srgbClr val="F7F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ES" sz="1100">
                <a:solidFill>
                  <a:srgbClr val="494738"/>
                </a:solidFill>
              </a:rPr>
              <a:t>Los plugins tienen visibilidad completa de todos los ficheros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55D6375E-CC41-7743-B035-AF671E2935C1}"/>
              </a:ext>
            </a:extLst>
          </p:cNvPr>
          <p:cNvSpPr/>
          <p:nvPr/>
        </p:nvSpPr>
        <p:spPr>
          <a:xfrm>
            <a:off x="6512998" y="4067338"/>
            <a:ext cx="2380177" cy="919454"/>
          </a:xfrm>
          <a:prstGeom prst="roundRect">
            <a:avLst/>
          </a:prstGeom>
          <a:solidFill>
            <a:srgbClr val="F7F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ES" sz="1100">
                <a:solidFill>
                  <a:srgbClr val="494738"/>
                </a:solidFill>
              </a:rPr>
              <a:t>Se termina generando un “bundle” listo para subir a producción</a:t>
            </a:r>
          </a:p>
        </p:txBody>
      </p:sp>
    </p:spTree>
    <p:extLst>
      <p:ext uri="{BB962C8B-B14F-4D97-AF65-F5344CB8AC3E}">
        <p14:creationId xmlns:p14="http://schemas.microsoft.com/office/powerpoint/2010/main" val="266110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109" grpId="0"/>
      <p:bldP spid="110" grpId="0"/>
      <p:bldP spid="111" grpId="0"/>
      <p:bldP spid="112" grpId="0"/>
      <p:bldP spid="113" grpId="0" animBg="1"/>
      <p:bldP spid="114" grpId="0" animBg="1"/>
      <p:bldP spid="115" grpId="0" animBg="1"/>
      <p:bldP spid="1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47699" y="-1627"/>
            <a:ext cx="8245476" cy="810657"/>
          </a:xfrm>
        </p:spPr>
        <p:txBody>
          <a:bodyPr lIns="0" anchor="b"/>
          <a:lstStyle/>
          <a:p>
            <a:r>
              <a:rPr lang="es-ES_tradnl" sz="4000" spc="-300">
                <a:solidFill>
                  <a:srgbClr val="242415"/>
                </a:solidFill>
                <a:latin typeface="Montserrat SemiBold" panose="00000700000000000000" pitchFamily="2" charset="0"/>
              </a:rPr>
              <a:t>Pros &amp; </a:t>
            </a:r>
            <a:r>
              <a:rPr lang="es-ES_tradnl" sz="4000" spc="-300" err="1">
                <a:solidFill>
                  <a:srgbClr val="242415"/>
                </a:solidFill>
                <a:latin typeface="Montserrat SemiBold" panose="00000700000000000000" pitchFamily="2" charset="0"/>
              </a:rPr>
              <a:t>cons</a:t>
            </a:r>
            <a:endParaRPr lang="es-ES_tradnl" sz="4000" spc="-300">
              <a:solidFill>
                <a:srgbClr val="242415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500B578-A172-4123-A9F9-10474B82C587}"/>
              </a:ext>
            </a:extLst>
          </p:cNvPr>
          <p:cNvSpPr/>
          <p:nvPr/>
        </p:nvSpPr>
        <p:spPr>
          <a:xfrm>
            <a:off x="0" y="0"/>
            <a:ext cx="254000" cy="5143500"/>
          </a:xfrm>
          <a:prstGeom prst="rect">
            <a:avLst/>
          </a:prstGeom>
          <a:solidFill>
            <a:srgbClr val="D8D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_tradnl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7827662-4A61-B646-A089-F92386343F6D}"/>
              </a:ext>
            </a:extLst>
          </p:cNvPr>
          <p:cNvSpPr/>
          <p:nvPr/>
        </p:nvSpPr>
        <p:spPr>
          <a:xfrm>
            <a:off x="647699" y="1248933"/>
            <a:ext cx="8242949" cy="600700"/>
          </a:xfrm>
          <a:prstGeom prst="roundRect">
            <a:avLst/>
          </a:prstGeom>
          <a:solidFill>
            <a:srgbClr val="00A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dirty="0" err="1"/>
              <a:t>Webpack</a:t>
            </a:r>
            <a:r>
              <a:rPr lang="es-ES" dirty="0"/>
              <a:t> es muy maduro (va por versión 5)</a:t>
            </a:r>
            <a:endParaRPr lang="en-E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63210AC-069F-424C-B04F-2CECF2B2B86B}"/>
              </a:ext>
            </a:extLst>
          </p:cNvPr>
          <p:cNvSpPr/>
          <p:nvPr/>
        </p:nvSpPr>
        <p:spPr>
          <a:xfrm>
            <a:off x="647699" y="2004465"/>
            <a:ext cx="8242949" cy="600700"/>
          </a:xfrm>
          <a:prstGeom prst="roundRect">
            <a:avLst/>
          </a:prstGeom>
          <a:solidFill>
            <a:srgbClr val="00A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dirty="0"/>
              <a:t>Gran comunidad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9FE2A10-1B2E-6149-8BCA-768D7B36646F}"/>
              </a:ext>
            </a:extLst>
          </p:cNvPr>
          <p:cNvSpPr/>
          <p:nvPr/>
        </p:nvSpPr>
        <p:spPr>
          <a:xfrm>
            <a:off x="647699" y="2759997"/>
            <a:ext cx="8242949" cy="600700"/>
          </a:xfrm>
          <a:prstGeom prst="roundRect">
            <a:avLst/>
          </a:prstGeom>
          <a:solidFill>
            <a:srgbClr val="00A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err="1"/>
              <a:t>Webpack</a:t>
            </a:r>
            <a:r>
              <a:rPr lang="es-ES"/>
              <a:t> es extensible y trae muchas extensiones</a:t>
            </a:r>
            <a:endParaRPr lang="en-E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038E73A-8972-3C4E-8EEC-D4AFE2756450}"/>
              </a:ext>
            </a:extLst>
          </p:cNvPr>
          <p:cNvSpPr/>
          <p:nvPr/>
        </p:nvSpPr>
        <p:spPr>
          <a:xfrm>
            <a:off x="647699" y="3515529"/>
            <a:ext cx="8242949" cy="600700"/>
          </a:xfrm>
          <a:prstGeom prst="roundRect">
            <a:avLst/>
          </a:prstGeom>
          <a:solidFill>
            <a:srgbClr val="00A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err="1"/>
              <a:t>Webpack</a:t>
            </a:r>
            <a:r>
              <a:rPr lang="es-ES"/>
              <a:t> es muy potente</a:t>
            </a:r>
            <a:endParaRPr lang="en-E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3496FE-9B97-F343-991B-06B7ABCC1F5E}"/>
              </a:ext>
            </a:extLst>
          </p:cNvPr>
          <p:cNvSpPr/>
          <p:nvPr/>
        </p:nvSpPr>
        <p:spPr>
          <a:xfrm>
            <a:off x="647699" y="4271062"/>
            <a:ext cx="8242949" cy="600700"/>
          </a:xfrm>
          <a:prstGeom prst="roundRect">
            <a:avLst/>
          </a:prstGeom>
          <a:solidFill>
            <a:srgbClr val="006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err="1"/>
              <a:t>Webpack</a:t>
            </a:r>
            <a:r>
              <a:rPr lang="es-ES"/>
              <a:t> tiene su curva de aprendizaje</a:t>
            </a:r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82244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>
            <a:spLocks noGrp="1"/>
          </p:cNvSpPr>
          <p:nvPr>
            <p:ph type="title"/>
          </p:nvPr>
        </p:nvSpPr>
        <p:spPr>
          <a:xfrm>
            <a:off x="647699" y="-1627"/>
            <a:ext cx="8245476" cy="810657"/>
          </a:xfrm>
        </p:spPr>
        <p:txBody>
          <a:bodyPr lIns="0" anchor="b">
            <a:normAutofit/>
          </a:bodyPr>
          <a:lstStyle/>
          <a:p>
            <a:r>
              <a:rPr lang="es-ES" sz="3600" spc="-300" dirty="0">
                <a:solidFill>
                  <a:srgbClr val="242415"/>
                </a:solidFill>
                <a:latin typeface="Montserrat SemiBold" panose="00000700000000000000" pitchFamily="2" charset="0"/>
              </a:rPr>
              <a:t>Los bundlers antes de Vite</a:t>
            </a:r>
          </a:p>
        </p:txBody>
      </p:sp>
      <p:sp>
        <p:nvSpPr>
          <p:cNvPr id="102" name="Barra 102"/>
          <p:cNvSpPr/>
          <p:nvPr/>
        </p:nvSpPr>
        <p:spPr>
          <a:xfrm>
            <a:off x="0" y="0"/>
            <a:ext cx="254000" cy="5143500"/>
          </a:xfrm>
          <a:prstGeom prst="rect">
            <a:avLst/>
          </a:prstGeom>
          <a:solidFill>
            <a:srgbClr val="D8D800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endParaRPr lang="es-ES"/>
          </a:p>
        </p:txBody>
      </p:sp>
      <p:sp>
        <p:nvSpPr>
          <p:cNvPr id="103" name="Forma 103"/>
          <p:cNvSpPr/>
          <p:nvPr/>
        </p:nvSpPr>
        <p:spPr>
          <a:xfrm>
            <a:off x="649224" y="896112"/>
            <a:ext cx="2606040" cy="457200"/>
          </a:xfrm>
          <a:prstGeom prst="roundRect">
            <a:avLst/>
          </a:prstGeom>
          <a:solidFill>
            <a:srgbClr val="00A0A1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lang="es-ES" sz="1800" b="1" dirty="0">
                <a:solidFill>
                  <a:srgbClr val="FFFFFF"/>
                </a:solidFill>
                <a:latin typeface="Open Sans"/>
                <a:cs typeface="Open Sans"/>
              </a:rPr>
              <a:t>webpack</a:t>
            </a:r>
          </a:p>
        </p:txBody>
      </p:sp>
      <p:sp>
        <p:nvSpPr>
          <p:cNvPr id="104" name="Forma 104"/>
          <p:cNvSpPr/>
          <p:nvPr/>
        </p:nvSpPr>
        <p:spPr>
          <a:xfrm>
            <a:off x="649224" y="1417320"/>
            <a:ext cx="2606040" cy="1600200"/>
          </a:xfrm>
          <a:prstGeom prst="roundRect">
            <a:avLst/>
          </a:prstGeom>
          <a:solidFill>
            <a:srgbClr val="EEF3F3"/>
          </a:solidFill>
          <a:ln>
            <a:noFill/>
          </a:ln>
        </p:spPr>
        <p:txBody>
          <a:bodyPr wrap="square" lIns="137160" tIns="68580" rIns="137160" bIns="68580" rtlCol="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s-ES" sz="1300" b="1" dirty="0">
                <a:solidFill>
                  <a:srgbClr val="00A0A1"/>
                </a:solidFill>
                <a:latin typeface="Open Sans"/>
                <a:cs typeface="Open Sans"/>
              </a:rPr>
              <a:t>Potencia vs complejidad</a:t>
            </a:r>
          </a:p>
          <a:p>
            <a:pPr algn="l">
              <a:spcAft>
                <a:spcPts val="300"/>
              </a:spcAft>
            </a:pPr>
            <a:r>
              <a:rPr lang="es-ES" sz="1200" dirty="0">
                <a:solidFill>
                  <a:srgbClr val="262626"/>
                </a:solidFill>
                <a:latin typeface="Open Sans"/>
                <a:cs typeface="Open Sans"/>
              </a:rPr>
              <a:t>•  Loaders y plugins para todo</a:t>
            </a:r>
          </a:p>
          <a:p>
            <a:pPr algn="l">
              <a:spcAft>
                <a:spcPts val="300"/>
              </a:spcAft>
            </a:pPr>
            <a:r>
              <a:rPr lang="es-ES" sz="1200" dirty="0">
                <a:solidFill>
                  <a:srgbClr val="262626"/>
                </a:solidFill>
                <a:latin typeface="Open Sans"/>
                <a:cs typeface="Open Sans"/>
              </a:rPr>
              <a:t>•  Mucha configuración</a:t>
            </a:r>
          </a:p>
          <a:p>
            <a:pPr algn="l">
              <a:spcAft>
                <a:spcPts val="300"/>
              </a:spcAft>
            </a:pPr>
            <a:r>
              <a:rPr lang="es-ES" sz="1200" dirty="0">
                <a:solidFill>
                  <a:srgbClr val="262626"/>
                </a:solidFill>
                <a:latin typeface="Open Sans"/>
                <a:cs typeface="Open Sans"/>
              </a:rPr>
              <a:t>•  El rey en proyectos grandes</a:t>
            </a:r>
          </a:p>
        </p:txBody>
      </p:sp>
      <p:sp>
        <p:nvSpPr>
          <p:cNvPr id="105" name="Forma 105"/>
          <p:cNvSpPr/>
          <p:nvPr/>
        </p:nvSpPr>
        <p:spPr>
          <a:xfrm>
            <a:off x="3438144" y="896112"/>
            <a:ext cx="2606040" cy="457200"/>
          </a:xfrm>
          <a:prstGeom prst="roundRect">
            <a:avLst/>
          </a:prstGeom>
          <a:solidFill>
            <a:srgbClr val="00AD74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lang="es-ES" sz="1800" b="1" dirty="0">
                <a:solidFill>
                  <a:srgbClr val="FFFFFF"/>
                </a:solidFill>
                <a:latin typeface="Open Sans"/>
                <a:cs typeface="Open Sans"/>
              </a:rPr>
              <a:t>Parcel</a:t>
            </a:r>
          </a:p>
        </p:txBody>
      </p:sp>
      <p:sp>
        <p:nvSpPr>
          <p:cNvPr id="106" name="Forma 106"/>
          <p:cNvSpPr/>
          <p:nvPr/>
        </p:nvSpPr>
        <p:spPr>
          <a:xfrm>
            <a:off x="3438144" y="1417320"/>
            <a:ext cx="2606040" cy="1600200"/>
          </a:xfrm>
          <a:prstGeom prst="roundRect">
            <a:avLst/>
          </a:prstGeom>
          <a:solidFill>
            <a:srgbClr val="EEF3F3"/>
          </a:solidFill>
          <a:ln>
            <a:noFill/>
          </a:ln>
        </p:spPr>
        <p:txBody>
          <a:bodyPr wrap="square" lIns="137160" tIns="68580" rIns="137160" bIns="68580" rtlCol="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s-ES" sz="1300" b="1" dirty="0">
                <a:solidFill>
                  <a:srgbClr val="00AD74"/>
                </a:solidFill>
                <a:latin typeface="Open Sans"/>
                <a:cs typeface="Open Sans"/>
              </a:rPr>
              <a:t>Simplicidad vs magia</a:t>
            </a:r>
          </a:p>
          <a:p>
            <a:pPr algn="l">
              <a:spcAft>
                <a:spcPts val="300"/>
              </a:spcAft>
            </a:pPr>
            <a:r>
              <a:rPr lang="es-ES" sz="1200" dirty="0">
                <a:solidFill>
                  <a:srgbClr val="262626"/>
                </a:solidFill>
                <a:latin typeface="Open Sans"/>
                <a:cs typeface="Open Sans"/>
              </a:rPr>
              <a:t>•  Zero config: todo de serie</a:t>
            </a:r>
          </a:p>
          <a:p>
            <a:pPr algn="l">
              <a:spcAft>
                <a:spcPts val="300"/>
              </a:spcAft>
            </a:pPr>
            <a:r>
              <a:rPr lang="es-ES" sz="1200" dirty="0">
                <a:solidFill>
                  <a:srgbClr val="262626"/>
                </a:solidFill>
                <a:latin typeface="Open Sans"/>
                <a:cs typeface="Open Sans"/>
              </a:rPr>
              <a:t>•  Poco control si se complica</a:t>
            </a:r>
          </a:p>
          <a:p>
            <a:pPr algn="l">
              <a:spcAft>
                <a:spcPts val="300"/>
              </a:spcAft>
            </a:pPr>
            <a:r>
              <a:rPr lang="es-ES" sz="1200" dirty="0">
                <a:solidFill>
                  <a:srgbClr val="262626"/>
                </a:solidFill>
                <a:latin typeface="Open Sans"/>
                <a:cs typeface="Open Sans"/>
              </a:rPr>
              <a:t>•  Ideal para prototipos</a:t>
            </a:r>
          </a:p>
        </p:txBody>
      </p:sp>
      <p:sp>
        <p:nvSpPr>
          <p:cNvPr id="107" name="Forma 107"/>
          <p:cNvSpPr/>
          <p:nvPr/>
        </p:nvSpPr>
        <p:spPr>
          <a:xfrm>
            <a:off x="6227064" y="896112"/>
            <a:ext cx="2606040" cy="457200"/>
          </a:xfrm>
          <a:prstGeom prst="roundRect">
            <a:avLst/>
          </a:prstGeom>
          <a:solidFill>
            <a:srgbClr val="659B91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lang="es-ES" sz="1800" b="1" dirty="0">
                <a:solidFill>
                  <a:srgbClr val="FFFFFF"/>
                </a:solidFill>
                <a:latin typeface="Open Sans"/>
                <a:cs typeface="Open Sans"/>
              </a:rPr>
              <a:t>Rollup</a:t>
            </a:r>
          </a:p>
        </p:txBody>
      </p:sp>
      <p:sp>
        <p:nvSpPr>
          <p:cNvPr id="108" name="Forma 108"/>
          <p:cNvSpPr/>
          <p:nvPr/>
        </p:nvSpPr>
        <p:spPr>
          <a:xfrm>
            <a:off x="6227064" y="1417320"/>
            <a:ext cx="2606040" cy="1600200"/>
          </a:xfrm>
          <a:prstGeom prst="roundRect">
            <a:avLst/>
          </a:prstGeom>
          <a:solidFill>
            <a:srgbClr val="EEF3F3"/>
          </a:solidFill>
          <a:ln>
            <a:noFill/>
          </a:ln>
        </p:spPr>
        <p:txBody>
          <a:bodyPr wrap="square" lIns="137160" tIns="68580" rIns="137160" bIns="68580" rtlCol="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s-ES" sz="1300" b="1" dirty="0">
                <a:solidFill>
                  <a:srgbClr val="4F7A72"/>
                </a:solidFill>
                <a:latin typeface="Open Sans"/>
                <a:cs typeface="Open Sans"/>
              </a:rPr>
              <a:t>Equilibrio</a:t>
            </a:r>
          </a:p>
          <a:p>
            <a:pPr algn="l">
              <a:spcAft>
                <a:spcPts val="300"/>
              </a:spcAft>
            </a:pPr>
            <a:r>
              <a:rPr lang="es-ES" sz="1200" dirty="0">
                <a:solidFill>
                  <a:srgbClr val="262626"/>
                </a:solidFill>
                <a:latin typeface="Open Sans"/>
                <a:cs typeface="Open Sans"/>
              </a:rPr>
              <a:t>•  Basado en plugins</a:t>
            </a:r>
          </a:p>
          <a:p>
            <a:pPr algn="l">
              <a:spcAft>
                <a:spcPts val="300"/>
              </a:spcAft>
            </a:pPr>
            <a:r>
              <a:rPr lang="es-ES" sz="1200" dirty="0">
                <a:solidFill>
                  <a:srgbClr val="262626"/>
                </a:solidFill>
                <a:latin typeface="Open Sans"/>
                <a:cs typeface="Open Sans"/>
              </a:rPr>
              <a:t>•  Salida limpia y modular</a:t>
            </a:r>
          </a:p>
          <a:p>
            <a:pPr algn="l">
              <a:spcAft>
                <a:spcPts val="300"/>
              </a:spcAft>
            </a:pPr>
            <a:r>
              <a:rPr lang="es-ES" sz="1200" dirty="0">
                <a:solidFill>
                  <a:srgbClr val="262626"/>
                </a:solidFill>
                <a:latin typeface="Open Sans"/>
                <a:cs typeface="Open Sans"/>
              </a:rPr>
              <a:t>•  El favorito para librerías</a:t>
            </a:r>
          </a:p>
        </p:txBody>
      </p:sp>
      <p:sp>
        <p:nvSpPr>
          <p:cNvPr id="109" name="Forma 109"/>
          <p:cNvSpPr/>
          <p:nvPr/>
        </p:nvSpPr>
        <p:spPr>
          <a:xfrm>
            <a:off x="649224" y="3246120"/>
            <a:ext cx="3611880" cy="1097280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txBody>
          <a:bodyPr wrap="square" lIns="137160" tIns="68580" rIns="137160" bIns="68580" rtlCol="0" anchor="ctr">
            <a:normAutofit/>
          </a:bodyPr>
          <a:lstStyle/>
          <a:p>
            <a:pPr algn="l">
              <a:spcAft>
                <a:spcPts val="400"/>
              </a:spcAft>
            </a:pPr>
            <a:r>
              <a:rPr lang="es-ES" sz="1400" b="1" dirty="0">
                <a:solidFill>
                  <a:srgbClr val="FFFFFF"/>
                </a:solidFill>
                <a:latin typeface="Open Sans"/>
                <a:cs typeface="Open Sans"/>
              </a:rPr>
              <a:t>El problema: el rendimiento</a:t>
            </a:r>
          </a:p>
          <a:p>
            <a:pPr algn="l"/>
            <a:r>
              <a:rPr lang="es-ES" sz="1100" dirty="0">
                <a:solidFill>
                  <a:srgbClr val="FFFFFF"/>
                </a:solidFill>
                <a:latin typeface="Open Sans"/>
                <a:cs typeface="Open Sans"/>
              </a:rPr>
              <a:t>Escritos en JavaScript: con miles de módulos tardan en arrancar y en reflejar cada cambio.</a:t>
            </a:r>
          </a:p>
        </p:txBody>
      </p:sp>
      <p:sp>
        <p:nvSpPr>
          <p:cNvPr id="110" name="Flecha 110"/>
          <p:cNvSpPr/>
          <p:nvPr/>
        </p:nvSpPr>
        <p:spPr>
          <a:xfrm>
            <a:off x="4370832" y="3566160"/>
            <a:ext cx="457200" cy="457200"/>
          </a:xfrm>
          <a:prstGeom prst="rightArrow">
            <a:avLst/>
          </a:prstGeom>
          <a:solidFill>
            <a:srgbClr val="F88F70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endParaRPr lang="es-ES"/>
          </a:p>
        </p:txBody>
      </p:sp>
      <p:sp>
        <p:nvSpPr>
          <p:cNvPr id="111" name="Forma 111"/>
          <p:cNvSpPr/>
          <p:nvPr/>
        </p:nvSpPr>
        <p:spPr>
          <a:xfrm>
            <a:off x="4937760" y="3246120"/>
            <a:ext cx="3895344" cy="1097280"/>
          </a:xfrm>
          <a:prstGeom prst="roundRect">
            <a:avLst/>
          </a:prstGeom>
          <a:solidFill>
            <a:srgbClr val="00A0A1"/>
          </a:solidFill>
          <a:ln>
            <a:noFill/>
          </a:ln>
        </p:spPr>
        <p:txBody>
          <a:bodyPr wrap="square" lIns="137160" tIns="68580" rIns="137160" bIns="68580" rtlCol="0" anchor="ctr">
            <a:normAutofit/>
          </a:bodyPr>
          <a:lstStyle/>
          <a:p>
            <a:pPr algn="l">
              <a:spcAft>
                <a:spcPts val="400"/>
              </a:spcAft>
            </a:pPr>
            <a:r>
              <a:rPr lang="es-ES" sz="1400" b="1" dirty="0">
                <a:solidFill>
                  <a:srgbClr val="FFFFFF"/>
                </a:solidFill>
                <a:latin typeface="Open Sans"/>
                <a:cs typeface="Open Sans"/>
              </a:rPr>
              <a:t>La respuesta: lenguajes de bajo nivel</a:t>
            </a:r>
          </a:p>
          <a:p>
            <a:pPr algn="l"/>
            <a:r>
              <a:rPr lang="es-ES" sz="1200" b="1" dirty="0">
                <a:solidFill>
                  <a:srgbClr val="FFFFFF"/>
                </a:solidFill>
                <a:latin typeface="Open Sans"/>
                <a:cs typeface="Open Sans"/>
              </a:rPr>
              <a:t>esbuild (Go)  ·  SWC, OXC y Rolldown (Rust)</a:t>
            </a:r>
          </a:p>
          <a:p>
            <a:pPr algn="l"/>
            <a:r>
              <a:rPr lang="es-ES" sz="1100" dirty="0">
                <a:solidFill>
                  <a:srgbClr val="FFFFFF"/>
                </a:solidFill>
                <a:latin typeface="Open Sans"/>
                <a:cs typeface="Open Sans"/>
              </a:rPr>
              <a:t>Vite 8 usa OXC + Rolldown</a:t>
            </a:r>
          </a:p>
        </p:txBody>
      </p:sp>
    </p:spTree>
    <p:extLst>
      <p:ext uri="{BB962C8B-B14F-4D97-AF65-F5344CB8AC3E}">
        <p14:creationId xmlns:p14="http://schemas.microsoft.com/office/powerpoint/2010/main" val="382244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110" grpId="0" animBg="1"/>
      <p:bldP spid="1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>
            <a:spLocks noGrp="1"/>
          </p:cNvSpPr>
          <p:nvPr>
            <p:ph type="title"/>
          </p:nvPr>
        </p:nvSpPr>
        <p:spPr>
          <a:xfrm>
            <a:off x="647699" y="-1627"/>
            <a:ext cx="8245476" cy="810657"/>
          </a:xfrm>
        </p:spPr>
        <p:txBody>
          <a:bodyPr lIns="0" anchor="b">
            <a:normAutofit/>
          </a:bodyPr>
          <a:lstStyle/>
          <a:p>
            <a:r>
              <a:rPr lang="es-ES" sz="3600" spc="-300" dirty="0">
                <a:solidFill>
                  <a:srgbClr val="242415"/>
                </a:solidFill>
                <a:latin typeface="Montserrat SemiBold" panose="00000700000000000000" pitchFamily="2" charset="0"/>
              </a:rPr>
              <a:t>Vite en desarrollo: sin bundle</a:t>
            </a:r>
          </a:p>
        </p:txBody>
      </p:sp>
      <p:sp>
        <p:nvSpPr>
          <p:cNvPr id="102" name="Barra 102"/>
          <p:cNvSpPr/>
          <p:nvPr/>
        </p:nvSpPr>
        <p:spPr>
          <a:xfrm>
            <a:off x="0" y="0"/>
            <a:ext cx="254000" cy="5143500"/>
          </a:xfrm>
          <a:prstGeom prst="rect">
            <a:avLst/>
          </a:prstGeom>
          <a:solidFill>
            <a:srgbClr val="D8D800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endParaRPr lang="es-ES"/>
          </a:p>
        </p:txBody>
      </p:sp>
      <p:sp>
        <p:nvSpPr>
          <p:cNvPr id="103" name="Forma 103"/>
          <p:cNvSpPr/>
          <p:nvPr/>
        </p:nvSpPr>
        <p:spPr>
          <a:xfrm>
            <a:off x="649224" y="914400"/>
            <a:ext cx="1188720" cy="2926080"/>
          </a:xfrm>
          <a:prstGeom prst="roundRect">
            <a:avLst/>
          </a:prstGeom>
          <a:solidFill>
            <a:srgbClr val="00A0A1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s-ES" sz="1300" b="1" dirty="0">
                <a:solidFill>
                  <a:srgbClr val="FFFFFF"/>
                </a:solidFill>
                <a:latin typeface="Open Sans"/>
                <a:cs typeface="Open Sans"/>
              </a:rPr>
              <a:t>Navegador</a:t>
            </a:r>
          </a:p>
          <a:p>
            <a:pPr algn="ctr"/>
            <a:r>
              <a:rPr lang="es-ES" sz="1100" dirty="0">
                <a:solidFill>
                  <a:srgbClr val="FFFFFF"/>
                </a:solidFill>
                <a:latin typeface="Open Sans"/>
                <a:cs typeface="Open Sans"/>
              </a:rPr>
              <a:t>pide cada módulo con import</a:t>
            </a:r>
          </a:p>
        </p:txBody>
      </p:sp>
      <p:sp>
        <p:nvSpPr>
          <p:cNvPr id="104" name="Flecha 104"/>
          <p:cNvSpPr/>
          <p:nvPr/>
        </p:nvSpPr>
        <p:spPr>
          <a:xfrm>
            <a:off x="1847088" y="1417320"/>
            <a:ext cx="411480" cy="365760"/>
          </a:xfrm>
          <a:prstGeom prst="leftRightArrow">
            <a:avLst/>
          </a:prstGeom>
          <a:solidFill>
            <a:srgbClr val="F88F70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endParaRPr lang="es-ES"/>
          </a:p>
        </p:txBody>
      </p:sp>
      <p:sp>
        <p:nvSpPr>
          <p:cNvPr id="105" name="Flecha 105"/>
          <p:cNvSpPr/>
          <p:nvPr/>
        </p:nvSpPr>
        <p:spPr>
          <a:xfrm>
            <a:off x="1847088" y="2971800"/>
            <a:ext cx="411480" cy="365760"/>
          </a:xfrm>
          <a:prstGeom prst="leftRightArrow">
            <a:avLst/>
          </a:prstGeom>
          <a:solidFill>
            <a:srgbClr val="F88F70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endParaRPr lang="es-ES"/>
          </a:p>
        </p:txBody>
      </p:sp>
      <p:sp>
        <p:nvSpPr>
          <p:cNvPr id="106" name="Forma 106"/>
          <p:cNvSpPr/>
          <p:nvPr/>
        </p:nvSpPr>
        <p:spPr>
          <a:xfrm>
            <a:off x="2331720" y="896112"/>
            <a:ext cx="2788920" cy="1417320"/>
          </a:xfrm>
          <a:prstGeom prst="roundRect">
            <a:avLst/>
          </a:prstGeom>
          <a:noFill/>
          <a:ln w="12700">
            <a:solidFill>
              <a:srgbClr val="00AD74"/>
            </a:solidFill>
            <a:prstDash val="dash"/>
          </a:ln>
        </p:spPr>
        <p:txBody>
          <a:bodyPr wrap="square" lIns="73152" tIns="36576" rIns="73152" bIns="36576" rtlCol="0" anchor="ctr">
            <a:normAutofit/>
          </a:bodyPr>
          <a:lstStyle/>
          <a:p>
            <a:endParaRPr lang="es-ES"/>
          </a:p>
        </p:txBody>
      </p:sp>
      <p:sp>
        <p:nvSpPr>
          <p:cNvPr id="107" name="Forma 107"/>
          <p:cNvSpPr txBox="1"/>
          <p:nvPr/>
        </p:nvSpPr>
        <p:spPr>
          <a:xfrm>
            <a:off x="2423160" y="9144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0AD74"/>
                </a:solidFill>
                <a:latin typeface="Open Sans"/>
                <a:cs typeface="Open Sans"/>
              </a:rPr>
              <a:t>Nuestro código (src/)</a:t>
            </a:r>
          </a:p>
        </p:txBody>
      </p:sp>
      <p:sp>
        <p:nvSpPr>
          <p:cNvPr id="108" name="Forma 108"/>
          <p:cNvSpPr/>
          <p:nvPr/>
        </p:nvSpPr>
        <p:spPr>
          <a:xfrm>
            <a:off x="2450592" y="1243584"/>
            <a:ext cx="804672" cy="347472"/>
          </a:xfrm>
          <a:prstGeom prst="roundRect">
            <a:avLst/>
          </a:prstGeom>
          <a:solidFill>
            <a:srgbClr val="00AD74"/>
          </a:solidFill>
          <a:ln>
            <a:noFill/>
          </a:ln>
        </p:spPr>
        <p:txBody>
          <a:bodyPr wrap="square" lIns="27432" tIns="13716" rIns="27432" bIns="13716" rtlCol="0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Open Sans"/>
                <a:cs typeface="Open Sans"/>
              </a:rPr>
              <a:t>index.tsx</a:t>
            </a:r>
          </a:p>
        </p:txBody>
      </p:sp>
      <p:sp>
        <p:nvSpPr>
          <p:cNvPr id="109" name="Forma 109"/>
          <p:cNvSpPr/>
          <p:nvPr/>
        </p:nvSpPr>
        <p:spPr>
          <a:xfrm>
            <a:off x="3337560" y="1243584"/>
            <a:ext cx="804672" cy="347472"/>
          </a:xfrm>
          <a:prstGeom prst="roundRect">
            <a:avLst/>
          </a:prstGeom>
          <a:solidFill>
            <a:srgbClr val="00AD74"/>
          </a:solidFill>
          <a:ln>
            <a:noFill/>
          </a:ln>
        </p:spPr>
        <p:txBody>
          <a:bodyPr wrap="square" lIns="27432" tIns="13716" rIns="27432" bIns="13716" rtlCol="0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Open Sans"/>
                <a:cs typeface="Open Sans"/>
              </a:rPr>
              <a:t>hello.tsx</a:t>
            </a:r>
          </a:p>
        </p:txBody>
      </p:sp>
      <p:sp>
        <p:nvSpPr>
          <p:cNvPr id="110" name="Forma 110"/>
          <p:cNvSpPr/>
          <p:nvPr/>
        </p:nvSpPr>
        <p:spPr>
          <a:xfrm>
            <a:off x="4224528" y="1243584"/>
            <a:ext cx="804672" cy="347472"/>
          </a:xfrm>
          <a:prstGeom prst="roundRect">
            <a:avLst/>
          </a:prstGeom>
          <a:solidFill>
            <a:srgbClr val="00AD74"/>
          </a:solidFill>
          <a:ln>
            <a:noFill/>
          </a:ln>
        </p:spPr>
        <p:txBody>
          <a:bodyPr wrap="square" lIns="27432" tIns="13716" rIns="27432" bIns="13716" rtlCol="0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Open Sans"/>
                <a:cs typeface="Open Sans"/>
              </a:rPr>
              <a:t>styles.css</a:t>
            </a:r>
          </a:p>
        </p:txBody>
      </p:sp>
      <p:sp>
        <p:nvSpPr>
          <p:cNvPr id="111" name="Forma 111"/>
          <p:cNvSpPr txBox="1"/>
          <p:nvPr/>
        </p:nvSpPr>
        <p:spPr>
          <a:xfrm>
            <a:off x="2423160" y="1664208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ES" sz="1000" dirty="0">
                <a:solidFill>
                  <a:srgbClr val="262626"/>
                </a:solidFill>
                <a:latin typeface="Open Sans"/>
                <a:cs typeface="Open Sans"/>
              </a:rPr>
              <a:t>Se transforma solo lo que se pide (OXC)</a:t>
            </a:r>
          </a:p>
          <a:p>
            <a:pPr algn="l"/>
            <a:r>
              <a:rPr lang="es-ES" sz="1000" dirty="0">
                <a:solidFill>
                  <a:srgbClr val="262626"/>
                </a:solidFill>
                <a:latin typeface="Open Sans"/>
                <a:cs typeface="Open Sans"/>
              </a:rPr>
              <a:t>Sin cambios → 304 · Con cambios → HMR</a:t>
            </a:r>
          </a:p>
        </p:txBody>
      </p:sp>
      <p:sp>
        <p:nvSpPr>
          <p:cNvPr id="112" name="Forma 112"/>
          <p:cNvSpPr/>
          <p:nvPr/>
        </p:nvSpPr>
        <p:spPr>
          <a:xfrm>
            <a:off x="2331720" y="2450592"/>
            <a:ext cx="2788920" cy="1417320"/>
          </a:xfrm>
          <a:prstGeom prst="roundRect">
            <a:avLst/>
          </a:prstGeom>
          <a:noFill/>
          <a:ln w="12700">
            <a:solidFill>
              <a:srgbClr val="ED7D31"/>
            </a:solidFill>
            <a:prstDash val="dash"/>
          </a:ln>
        </p:spPr>
        <p:txBody>
          <a:bodyPr wrap="square" lIns="73152" tIns="36576" rIns="73152" bIns="36576" rtlCol="0" anchor="ctr">
            <a:normAutofit/>
          </a:bodyPr>
          <a:lstStyle/>
          <a:p>
            <a:endParaRPr lang="es-ES"/>
          </a:p>
        </p:txBody>
      </p:sp>
      <p:sp>
        <p:nvSpPr>
          <p:cNvPr id="113" name="Forma 113"/>
          <p:cNvSpPr txBox="1"/>
          <p:nvPr/>
        </p:nvSpPr>
        <p:spPr>
          <a:xfrm>
            <a:off x="2423160" y="246888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C4561A"/>
                </a:solidFill>
                <a:latin typeface="Open Sans"/>
                <a:cs typeface="Open Sans"/>
              </a:rPr>
              <a:t>Dependencias (node_modules)</a:t>
            </a:r>
          </a:p>
        </p:txBody>
      </p:sp>
      <p:sp>
        <p:nvSpPr>
          <p:cNvPr id="114" name="Forma 114"/>
          <p:cNvSpPr/>
          <p:nvPr/>
        </p:nvSpPr>
        <p:spPr>
          <a:xfrm>
            <a:off x="2450592" y="2798064"/>
            <a:ext cx="1143000" cy="38404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27432" tIns="13716" rIns="27432" bIns="13716" rtlCol="0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262626"/>
                </a:solidFill>
                <a:latin typeface="Open Sans"/>
                <a:cs typeface="Open Sans"/>
              </a:rPr>
              <a:t>react, react-dom</a:t>
            </a:r>
          </a:p>
        </p:txBody>
      </p:sp>
      <p:sp>
        <p:nvSpPr>
          <p:cNvPr id="115" name="Flecha 115"/>
          <p:cNvSpPr/>
          <p:nvPr/>
        </p:nvSpPr>
        <p:spPr>
          <a:xfrm>
            <a:off x="3630168" y="2862072"/>
            <a:ext cx="274320" cy="256032"/>
          </a:xfrm>
          <a:prstGeom prst="rightArrow">
            <a:avLst/>
          </a:prstGeom>
          <a:solidFill>
            <a:srgbClr val="F88F70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endParaRPr lang="es-ES"/>
          </a:p>
        </p:txBody>
      </p:sp>
      <p:sp>
        <p:nvSpPr>
          <p:cNvPr id="116" name="Forma 116"/>
          <p:cNvSpPr/>
          <p:nvPr/>
        </p:nvSpPr>
        <p:spPr>
          <a:xfrm>
            <a:off x="3950208" y="2798064"/>
            <a:ext cx="1106424" cy="38404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txBody>
          <a:bodyPr wrap="square" lIns="27432" tIns="13716" rIns="27432" bIns="13716" rtlCol="0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Open Sans"/>
                <a:cs typeface="Open Sans"/>
              </a:rPr>
              <a:t>pre-bundle</a:t>
            </a:r>
          </a:p>
        </p:txBody>
      </p:sp>
      <p:sp>
        <p:nvSpPr>
          <p:cNvPr id="117" name="Forma 117"/>
          <p:cNvSpPr txBox="1"/>
          <p:nvPr/>
        </p:nvSpPr>
        <p:spPr>
          <a:xfrm>
            <a:off x="2423160" y="3246120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s-ES" sz="1000" dirty="0">
                <a:solidFill>
                  <a:srgbClr val="262626"/>
                </a:solidFill>
                <a:latin typeface="Open Sans"/>
                <a:cs typeface="Open Sans"/>
              </a:rPr>
              <a:t>Se empaquetan una sola vez (.vite/deps)</a:t>
            </a:r>
          </a:p>
          <a:p>
            <a:pPr algn="l"/>
            <a:r>
              <a:rPr lang="es-ES" sz="1000" dirty="0">
                <a:solidFill>
                  <a:srgbClr val="262626"/>
                </a:solidFill>
                <a:latin typeface="Open Sans"/>
                <a:cs typeface="Open Sans"/>
              </a:rPr>
              <a:t>Caché del navegador: 1 año</a:t>
            </a:r>
          </a:p>
        </p:txBody>
      </p:sp>
      <p:sp>
        <p:nvSpPr>
          <p:cNvPr id="118" name="Forma 118"/>
          <p:cNvSpPr/>
          <p:nvPr/>
        </p:nvSpPr>
        <p:spPr>
          <a:xfrm>
            <a:off x="5349240" y="896112"/>
            <a:ext cx="3483864" cy="640080"/>
          </a:xfrm>
          <a:prstGeom prst="roundRect">
            <a:avLst/>
          </a:prstGeom>
          <a:solidFill>
            <a:srgbClr val="00AD74"/>
          </a:solidFill>
          <a:ln>
            <a:no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es-ES" sz="1200" b="1" dirty="0">
                <a:solidFill>
                  <a:srgbClr val="FFFFFF"/>
                </a:solidFill>
                <a:latin typeface="Open Sans"/>
                <a:cs typeface="Open Sans"/>
              </a:rPr>
              <a:t>Arranque instantáneo</a:t>
            </a:r>
          </a:p>
          <a:p>
            <a:pPr algn="l"/>
            <a:r>
              <a:rPr lang="es-ES" sz="1000" dirty="0">
                <a:solidFill>
                  <a:srgbClr val="FFFFFF"/>
                </a:solidFill>
                <a:latin typeface="Open Sans"/>
                <a:cs typeface="Open Sans"/>
              </a:rPr>
              <a:t>No espera a empaquetar nada</a:t>
            </a:r>
          </a:p>
        </p:txBody>
      </p:sp>
      <p:sp>
        <p:nvSpPr>
          <p:cNvPr id="119" name="Forma 119"/>
          <p:cNvSpPr/>
          <p:nvPr/>
        </p:nvSpPr>
        <p:spPr>
          <a:xfrm>
            <a:off x="5349240" y="1645920"/>
            <a:ext cx="3483864" cy="640080"/>
          </a:xfrm>
          <a:prstGeom prst="roundRect">
            <a:avLst/>
          </a:prstGeom>
          <a:solidFill>
            <a:srgbClr val="006A7B"/>
          </a:solidFill>
          <a:ln>
            <a:no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es-ES" sz="1200" b="1" dirty="0">
                <a:solidFill>
                  <a:srgbClr val="FFFFFF"/>
                </a:solidFill>
                <a:latin typeface="Open Sans"/>
                <a:cs typeface="Open Sans"/>
              </a:rPr>
              <a:t>HMR por módulo</a:t>
            </a:r>
          </a:p>
          <a:p>
            <a:pPr algn="l"/>
            <a:r>
              <a:rPr lang="es-ES" sz="1000" dirty="0">
                <a:solidFill>
                  <a:srgbClr val="FFFFFF"/>
                </a:solidFill>
                <a:latin typeface="Open Sans"/>
                <a:cs typeface="Open Sans"/>
              </a:rPr>
              <a:t>Solo viaja el fichero que cambia</a:t>
            </a:r>
          </a:p>
        </p:txBody>
      </p:sp>
      <p:sp>
        <p:nvSpPr>
          <p:cNvPr id="120" name="Forma 120"/>
          <p:cNvSpPr/>
          <p:nvPr/>
        </p:nvSpPr>
        <p:spPr>
          <a:xfrm>
            <a:off x="5349240" y="2395728"/>
            <a:ext cx="3483864" cy="640080"/>
          </a:xfrm>
          <a:prstGeom prst="roundRect">
            <a:avLst/>
          </a:prstGeom>
          <a:solidFill>
            <a:srgbClr val="00AD74"/>
          </a:solidFill>
          <a:ln>
            <a:no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es-ES" sz="1200" b="1" dirty="0">
                <a:solidFill>
                  <a:srgbClr val="FFFFFF"/>
                </a:solidFill>
                <a:latin typeface="Open Sans"/>
                <a:cs typeface="Open Sans"/>
              </a:rPr>
              <a:t>Lazy loading nativo</a:t>
            </a:r>
          </a:p>
          <a:p>
            <a:pPr algn="l"/>
            <a:r>
              <a:rPr lang="es-ES" sz="1000" dirty="0">
                <a:solidFill>
                  <a:srgbClr val="FFFFFF"/>
                </a:solidFill>
                <a:latin typeface="Open Sans"/>
                <a:cs typeface="Open Sans"/>
              </a:rPr>
              <a:t>Lo que no se pide, no se descarga</a:t>
            </a:r>
          </a:p>
        </p:txBody>
      </p:sp>
      <p:sp>
        <p:nvSpPr>
          <p:cNvPr id="121" name="Forma 121"/>
          <p:cNvSpPr/>
          <p:nvPr/>
        </p:nvSpPr>
        <p:spPr>
          <a:xfrm>
            <a:off x="5349240" y="3145536"/>
            <a:ext cx="3483864" cy="640080"/>
          </a:xfrm>
          <a:prstGeom prst="roundRect">
            <a:avLst/>
          </a:prstGeom>
          <a:solidFill>
            <a:srgbClr val="006A7B"/>
          </a:solidFill>
          <a:ln>
            <a:no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es-ES" sz="1200" b="1" dirty="0">
                <a:solidFill>
                  <a:srgbClr val="FFFFFF"/>
                </a:solidFill>
                <a:latin typeface="Open Sans"/>
                <a:cs typeface="Open Sans"/>
              </a:rPr>
              <a:t>Caché del navegador</a:t>
            </a:r>
          </a:p>
          <a:p>
            <a:pPr algn="l"/>
            <a:r>
              <a:rPr lang="es-ES" sz="1000" dirty="0">
                <a:solidFill>
                  <a:srgbClr val="FFFFFF"/>
                </a:solidFill>
                <a:latin typeface="Open Sans"/>
                <a:cs typeface="Open Sans"/>
              </a:rPr>
              <a:t>304 para tu código, immutable para las dependencias</a:t>
            </a:r>
          </a:p>
        </p:txBody>
      </p:sp>
      <p:sp>
        <p:nvSpPr>
          <p:cNvPr id="122" name="Forma 122"/>
          <p:cNvSpPr/>
          <p:nvPr/>
        </p:nvSpPr>
        <p:spPr>
          <a:xfrm>
            <a:off x="649224" y="4069080"/>
            <a:ext cx="8183880" cy="457200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Open Sans"/>
                <a:cs typeface="Open Sans"/>
              </a:rPr>
              <a:t>Producción → </a:t>
            </a:r>
            <a:r>
              <a:rPr lang="es-ES" sz="1200" dirty="0">
                <a:solidFill>
                  <a:srgbClr val="FFFFFF"/>
                </a:solidFill>
                <a:latin typeface="Open Sans"/>
                <a:cs typeface="Open Sans"/>
              </a:rPr>
              <a:t>bundling clásico con Rolldown: pocos ficheros, minificados y con hash</a:t>
            </a:r>
          </a:p>
        </p:txBody>
      </p:sp>
    </p:spTree>
    <p:extLst>
      <p:ext uri="{BB962C8B-B14F-4D97-AF65-F5344CB8AC3E}">
        <p14:creationId xmlns:p14="http://schemas.microsoft.com/office/powerpoint/2010/main" val="382244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119" grpId="0" animBg="1"/>
      <p:bldP spid="120" grpId="0" animBg="1"/>
      <p:bldP spid="121" grpId="0" animBg="1"/>
      <p:bldP spid="1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>
            <a:spLocks noGrp="1"/>
          </p:cNvSpPr>
          <p:nvPr>
            <p:ph type="title"/>
          </p:nvPr>
        </p:nvSpPr>
        <p:spPr>
          <a:xfrm>
            <a:off x="647699" y="-1627"/>
            <a:ext cx="8245476" cy="810657"/>
          </a:xfrm>
        </p:spPr>
        <p:txBody>
          <a:bodyPr lIns="0" anchor="b">
            <a:normAutofit/>
          </a:bodyPr>
          <a:lstStyle/>
          <a:p>
            <a:r>
              <a:rPr lang="es-ES" sz="3600" spc="-300" dirty="0">
                <a:solidFill>
                  <a:srgbClr val="242415"/>
                </a:solidFill>
                <a:latin typeface="Montserrat SemiBold" panose="00000700000000000000" pitchFamily="2" charset="0"/>
              </a:rPr>
              <a:t>Vite: pros &amp; contras</a:t>
            </a:r>
          </a:p>
        </p:txBody>
      </p:sp>
      <p:sp>
        <p:nvSpPr>
          <p:cNvPr id="102" name="Barra 102"/>
          <p:cNvSpPr/>
          <p:nvPr/>
        </p:nvSpPr>
        <p:spPr>
          <a:xfrm>
            <a:off x="0" y="0"/>
            <a:ext cx="254000" cy="5143500"/>
          </a:xfrm>
          <a:prstGeom prst="rect">
            <a:avLst/>
          </a:prstGeom>
          <a:solidFill>
            <a:srgbClr val="D8D800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endParaRPr lang="es-ES"/>
          </a:p>
        </p:txBody>
      </p:sp>
      <p:sp>
        <p:nvSpPr>
          <p:cNvPr id="103" name="Forma 103"/>
          <p:cNvSpPr txBox="1"/>
          <p:nvPr/>
        </p:nvSpPr>
        <p:spPr>
          <a:xfrm>
            <a:off x="649224" y="868680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ES" sz="1800" b="1" dirty="0">
                <a:solidFill>
                  <a:srgbClr val="00AD74"/>
                </a:solidFill>
                <a:latin typeface="Open Sans"/>
                <a:cs typeface="Open Sans"/>
              </a:rPr>
              <a:t>Pros</a:t>
            </a:r>
          </a:p>
        </p:txBody>
      </p:sp>
      <p:sp>
        <p:nvSpPr>
          <p:cNvPr id="104" name="Forma 104"/>
          <p:cNvSpPr/>
          <p:nvPr/>
        </p:nvSpPr>
        <p:spPr>
          <a:xfrm>
            <a:off x="649224" y="1325880"/>
            <a:ext cx="3977640" cy="566928"/>
          </a:xfrm>
          <a:prstGeom prst="roundRect">
            <a:avLst/>
          </a:prstGeom>
          <a:solidFill>
            <a:srgbClr val="00AD74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lang="es-ES" sz="1300" dirty="0">
                <a:solidFill>
                  <a:srgbClr val="FFFFFF"/>
                </a:solidFill>
                <a:latin typeface="Open Sans"/>
                <a:cs typeface="Open Sans"/>
              </a:rPr>
              <a:t>Arranque y cambios casi instantáneos</a:t>
            </a:r>
          </a:p>
        </p:txBody>
      </p:sp>
      <p:sp>
        <p:nvSpPr>
          <p:cNvPr id="105" name="Forma 105"/>
          <p:cNvSpPr/>
          <p:nvPr/>
        </p:nvSpPr>
        <p:spPr>
          <a:xfrm>
            <a:off x="649224" y="2039112"/>
            <a:ext cx="3977640" cy="566928"/>
          </a:xfrm>
          <a:prstGeom prst="roundRect">
            <a:avLst/>
          </a:prstGeom>
          <a:solidFill>
            <a:srgbClr val="00AD74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lang="es-ES" sz="1300" dirty="0">
                <a:solidFill>
                  <a:srgbClr val="FFFFFF"/>
                </a:solidFill>
                <a:latin typeface="Open Sans"/>
                <a:cs typeface="Open Sans"/>
              </a:rPr>
              <a:t>TypeScript, JSX, CSS, Sass e imágenes de serie</a:t>
            </a:r>
          </a:p>
        </p:txBody>
      </p:sp>
      <p:sp>
        <p:nvSpPr>
          <p:cNvPr id="106" name="Forma 106"/>
          <p:cNvSpPr/>
          <p:nvPr/>
        </p:nvSpPr>
        <p:spPr>
          <a:xfrm>
            <a:off x="649224" y="2752344"/>
            <a:ext cx="3977640" cy="566928"/>
          </a:xfrm>
          <a:prstGeom prst="roundRect">
            <a:avLst/>
          </a:prstGeom>
          <a:solidFill>
            <a:srgbClr val="00AD74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lang="es-ES" sz="1300" dirty="0">
                <a:solidFill>
                  <a:srgbClr val="FFFFFF"/>
                </a:solidFill>
                <a:latin typeface="Open Sans"/>
                <a:cs typeface="Open Sans"/>
              </a:rPr>
              <a:t>Plantillas: npm create vite@latest</a:t>
            </a:r>
          </a:p>
        </p:txBody>
      </p:sp>
      <p:sp>
        <p:nvSpPr>
          <p:cNvPr id="107" name="Forma 107"/>
          <p:cNvSpPr/>
          <p:nvPr/>
        </p:nvSpPr>
        <p:spPr>
          <a:xfrm>
            <a:off x="649224" y="3465576"/>
            <a:ext cx="3977640" cy="566928"/>
          </a:xfrm>
          <a:prstGeom prst="roundRect">
            <a:avLst/>
          </a:prstGeom>
          <a:solidFill>
            <a:srgbClr val="00AD74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lang="es-ES" sz="1300" dirty="0">
                <a:solidFill>
                  <a:srgbClr val="FFFFFF"/>
                </a:solidFill>
                <a:latin typeface="Open Sans"/>
                <a:cs typeface="Open Sans"/>
              </a:rPr>
              <a:t>Producción optimizada con Rolldown</a:t>
            </a:r>
          </a:p>
        </p:txBody>
      </p:sp>
      <p:sp>
        <p:nvSpPr>
          <p:cNvPr id="108" name="Forma 108"/>
          <p:cNvSpPr txBox="1"/>
          <p:nvPr/>
        </p:nvSpPr>
        <p:spPr>
          <a:xfrm>
            <a:off x="4855464" y="868680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s-ES" sz="1800" b="1" dirty="0">
                <a:solidFill>
                  <a:srgbClr val="006A7B"/>
                </a:solidFill>
                <a:latin typeface="Open Sans"/>
                <a:cs typeface="Open Sans"/>
              </a:rPr>
              <a:t>Contras</a:t>
            </a:r>
          </a:p>
        </p:txBody>
      </p:sp>
      <p:sp>
        <p:nvSpPr>
          <p:cNvPr id="109" name="Forma 109"/>
          <p:cNvSpPr/>
          <p:nvPr/>
        </p:nvSpPr>
        <p:spPr>
          <a:xfrm>
            <a:off x="4855464" y="1325880"/>
            <a:ext cx="3977640" cy="566928"/>
          </a:xfrm>
          <a:prstGeom prst="roundRect">
            <a:avLst/>
          </a:prstGeom>
          <a:solidFill>
            <a:srgbClr val="006A7B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lang="es-ES" sz="1300" dirty="0">
                <a:solidFill>
                  <a:srgbClr val="FFFFFF"/>
                </a:solidFill>
                <a:latin typeface="Open Sans"/>
                <a:cs typeface="Open Sans"/>
              </a:rPr>
              <a:t>Desarrollo ≠ producción (casi nada con Vite 8)</a:t>
            </a:r>
          </a:p>
        </p:txBody>
      </p:sp>
      <p:sp>
        <p:nvSpPr>
          <p:cNvPr id="110" name="Forma 110"/>
          <p:cNvSpPr/>
          <p:nvPr/>
        </p:nvSpPr>
        <p:spPr>
          <a:xfrm>
            <a:off x="4855464" y="2039112"/>
            <a:ext cx="3977640" cy="566928"/>
          </a:xfrm>
          <a:prstGeom prst="roundRect">
            <a:avLst/>
          </a:prstGeom>
          <a:solidFill>
            <a:srgbClr val="006A7B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lang="es-ES" sz="1300" dirty="0">
                <a:solidFill>
                  <a:srgbClr val="FFFFFF"/>
                </a:solidFill>
                <a:latin typeface="Open Sans"/>
                <a:cs typeface="Open Sans"/>
              </a:rPr>
              <a:t>Necesita navegadores con ES Modules</a:t>
            </a:r>
          </a:p>
        </p:txBody>
      </p:sp>
      <p:sp>
        <p:nvSpPr>
          <p:cNvPr id="111" name="Forma 111"/>
          <p:cNvSpPr/>
          <p:nvPr/>
        </p:nvSpPr>
        <p:spPr>
          <a:xfrm>
            <a:off x="4855464" y="2752344"/>
            <a:ext cx="3977640" cy="566928"/>
          </a:xfrm>
          <a:prstGeom prst="roundRect">
            <a:avLst/>
          </a:prstGeom>
          <a:solidFill>
            <a:srgbClr val="006A7B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lang="es-ES" sz="1300" dirty="0">
                <a:solidFill>
                  <a:srgbClr val="FFFFFF"/>
                </a:solidFill>
                <a:latin typeface="Open Sans"/>
                <a:cs typeface="Open Sans"/>
              </a:rPr>
              <a:t>TypeScript: isolatedModules y sin comprobar tipos</a:t>
            </a:r>
          </a:p>
        </p:txBody>
      </p:sp>
      <p:sp>
        <p:nvSpPr>
          <p:cNvPr id="112" name="Forma 112"/>
          <p:cNvSpPr/>
          <p:nvPr/>
        </p:nvSpPr>
        <p:spPr>
          <a:xfrm>
            <a:off x="4855464" y="3465576"/>
            <a:ext cx="3977640" cy="566928"/>
          </a:xfrm>
          <a:prstGeom prst="roundRect">
            <a:avLst/>
          </a:prstGeom>
          <a:solidFill>
            <a:srgbClr val="006A7B"/>
          </a:solidFill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lang="es-ES" sz="1300" dirty="0">
                <a:solidFill>
                  <a:srgbClr val="FFFFFF"/>
                </a:solidFill>
                <a:latin typeface="Open Sans"/>
                <a:cs typeface="Open Sans"/>
              </a:rPr>
              <a:t>Opinionado: import.meta.env, import.meta.hot…</a:t>
            </a:r>
          </a:p>
        </p:txBody>
      </p:sp>
    </p:spTree>
    <p:extLst>
      <p:ext uri="{BB962C8B-B14F-4D97-AF65-F5344CB8AC3E}">
        <p14:creationId xmlns:p14="http://schemas.microsoft.com/office/powerpoint/2010/main" val="382244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9" grpId="0" animBg="1"/>
      <p:bldP spid="110" grpId="0" animBg="1"/>
      <p:bldP spid="111" grpId="0" animBg="1"/>
      <p:bldP spid="1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emoncode">
      <a:majorFont>
        <a:latin typeface="Montserrat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8D800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Antes de los bundlers</vt:lpstr>
      <vt:lpstr>Nuevas necesidades - nuevos problemas</vt:lpstr>
      <vt:lpstr>PowerPoint Presentation</vt:lpstr>
      <vt:lpstr>Webpack – flujo y elementos</vt:lpstr>
      <vt:lpstr>Pros &amp; cons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Consejos de un perro viejo</dc:title>
  <dc:subject/>
  <dc:creator>Brauio Diez</dc:creator>
  <cp:keywords>lemoncode</cp:keywords>
  <dc:description/>
  <cp:revision>249</cp:revision>
  <dcterms:created xsi:type="dcterms:W3CDTF">2011-05-12T11:00:38Z</dcterms:created>
  <dcterms:modified xsi:type="dcterms:W3CDTF">2026-01-29T20:26:29Z</dcterms:modified>
  <cp:category/>
</cp:coreProperties>
</file>